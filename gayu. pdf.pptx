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0" r:id="rId1"/>
  </p:sldMasterIdLst>
  <p:notesMasterIdLst>
    <p:notesMasterId r:id="rId2"/>
  </p:notesMasterIdLst>
  <p:sldIdLst>
    <p:sldId id="283" r:id="rId3"/>
    <p:sldId id="284" r:id="rId4"/>
    <p:sldId id="285" r:id="rId5"/>
    <p:sldId id="286" r:id="rId6"/>
    <p:sldId id="287" r:id="rId7"/>
    <p:sldId id="288" r:id="rId8"/>
    <p:sldId id="289" r:id="rId9"/>
    <p:sldId id="290" r:id="rId10"/>
    <p:sldId id="291" r:id="rId11"/>
    <p:sldId id="292" r:id="rId12"/>
    <p:sldId id="294" r:id="rId13"/>
  </p:sldIdLst>
  <p:sldSz type="screen16x9" cy="6858000" cx="12192000"/>
  <p:notesSz cx="12192000" cy="6858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p:cViewPr varScale="1">
        <p:scale>
          <a:sx n="70" d="100"/>
          <a:sy n="70" d="100"/>
        </p:scale>
        <p:origin x="714"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tableStyles" Target="tableStyle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4" name=""/>
        <p:cNvGrpSpPr/>
        <p:nvPr/>
      </p:nvGrpSpPr>
      <p:grpSpPr>
        <a:xfrm>
          <a:off x="0" y="0"/>
          <a:ext cx="0" cy="0"/>
          <a:chOff x="0" y="0"/>
          <a:chExt cx="0" cy="0"/>
        </a:xfrm>
      </p:grpSpPr>
      <p:sp>
        <p:nvSpPr>
          <p:cNvPr id="1048701" name="Header Placeholder 1"/>
          <p:cNvSpPr>
            <a:spLocks noGrp="1"/>
          </p:cNvSpPr>
          <p:nvPr>
            <p:ph type="hdr" sz="quarter"/>
          </p:nvPr>
        </p:nvSpPr>
        <p:spPr>
          <a:xfrm>
            <a:off x="0" y="0"/>
            <a:ext cx="5283200" cy="344488"/>
          </a:xfrm>
          <a:prstGeom prst="rect"/>
        </p:spPr>
        <p:txBody>
          <a:bodyPr bIns="45720" lIns="91440" rIns="91440" rtlCol="0" tIns="45720" vert="horz"/>
          <a:lstStyle>
            <a:lvl1pPr algn="l">
              <a:defRPr sz="1200"/>
            </a:lvl1pPr>
          </a:lstStyle>
          <a:p>
            <a:endParaRPr lang="en-IN"/>
          </a:p>
        </p:txBody>
      </p:sp>
      <p:sp>
        <p:nvSpPr>
          <p:cNvPr id="1048702" name="Date Placeholder 2"/>
          <p:cNvSpPr>
            <a:spLocks noGrp="1"/>
          </p:cNvSpPr>
          <p:nvPr>
            <p:ph type="dt" idx="1"/>
          </p:nvPr>
        </p:nvSpPr>
        <p:spPr>
          <a:xfrm>
            <a:off x="6905625" y="0"/>
            <a:ext cx="5283200" cy="344488"/>
          </a:xfrm>
          <a:prstGeom prst="rect"/>
        </p:spPr>
        <p:txBody>
          <a:bodyPr bIns="45720" lIns="91440" rIns="91440" rtlCol="0" tIns="45720" vert="horz"/>
          <a:lstStyle>
            <a:lvl1pPr algn="r">
              <a:defRPr sz="1200"/>
            </a:lvl1pPr>
          </a:lstStyle>
          <a:p>
            <a:fld id="{84B86612-B127-4CD0-BF15-66D49A7175F7}" type="datetimeFigureOut">
              <a:rPr lang="en-IN" smtClean="0"/>
              <a:t>01-09-2025</a:t>
            </a:fld>
            <a:endParaRPr lang="en-IN"/>
          </a:p>
        </p:txBody>
      </p:sp>
      <p:sp>
        <p:nvSpPr>
          <p:cNvPr id="1048703" name="Slide Image Placeholder 3"/>
          <p:cNvSpPr>
            <a:spLocks noChangeAspect="1" noRot="1" noGrp="1"/>
          </p:cNvSpPr>
          <p:nvPr>
            <p:ph type="sldImg" idx="2"/>
          </p:nvPr>
        </p:nvSpPr>
        <p:spPr>
          <a:xfrm>
            <a:off x="4038600" y="857250"/>
            <a:ext cx="4114800" cy="2314575"/>
          </a:xfrm>
          <a:prstGeom prst="rect"/>
          <a:noFill/>
          <a:ln w="12700">
            <a:solidFill>
              <a:prstClr val="black"/>
            </a:solidFill>
          </a:ln>
        </p:spPr>
        <p:txBody>
          <a:bodyPr anchor="ctr" bIns="45720" lIns="91440" rIns="91440" rtlCol="0" tIns="45720" vert="horz"/>
          <a:p>
            <a:endParaRPr lang="en-IN"/>
          </a:p>
        </p:txBody>
      </p:sp>
      <p:sp>
        <p:nvSpPr>
          <p:cNvPr id="1048704" name="Notes Placeholder 4"/>
          <p:cNvSpPr>
            <a:spLocks noGrp="1"/>
          </p:cNvSpPr>
          <p:nvPr>
            <p:ph type="body" sz="quarter" idx="3"/>
          </p:nvPr>
        </p:nvSpPr>
        <p:spPr>
          <a:xfrm>
            <a:off x="1219200" y="3300413"/>
            <a:ext cx="9753600" cy="2700337"/>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5" name="Footer Placeholder 5"/>
          <p:cNvSpPr>
            <a:spLocks noGrp="1"/>
          </p:cNvSpPr>
          <p:nvPr>
            <p:ph type="ftr" sz="quarter" idx="4"/>
          </p:nvPr>
        </p:nvSpPr>
        <p:spPr>
          <a:xfrm>
            <a:off x="0" y="6513513"/>
            <a:ext cx="5283200" cy="344487"/>
          </a:xfrm>
          <a:prstGeom prst="rect"/>
        </p:spPr>
        <p:txBody>
          <a:bodyPr anchor="b" bIns="45720" lIns="91440" rIns="91440" rtlCol="0" tIns="45720" vert="horz"/>
          <a:lstStyle>
            <a:lvl1pPr algn="l">
              <a:defRPr sz="1200"/>
            </a:lvl1pPr>
          </a:lstStyle>
          <a:p>
            <a:endParaRPr lang="en-IN"/>
          </a:p>
        </p:txBody>
      </p:sp>
      <p:sp>
        <p:nvSpPr>
          <p:cNvPr id="1048706" name="Slide Number Placeholder 6"/>
          <p:cNvSpPr>
            <a:spLocks noGrp="1"/>
          </p:cNvSpPr>
          <p:nvPr>
            <p:ph type="sldNum" sz="quarter" idx="5"/>
          </p:nvPr>
        </p:nvSpPr>
        <p:spPr>
          <a:xfrm>
            <a:off x="6905625" y="6513513"/>
            <a:ext cx="5283200" cy="344487"/>
          </a:xfrm>
          <a:prstGeom prst="rect"/>
        </p:spPr>
        <p:txBody>
          <a:bodyPr anchor="b" bIns="45720" lIns="91440" rIns="91440" rtlCol="0" tIns="45720" vert="horz"/>
          <a:lstStyle>
            <a:lvl1pPr algn="r">
              <a:defRPr sz="1200"/>
            </a:lvl1pPr>
          </a:lstStyle>
          <a:p>
            <a:fld id="{F7F439ED-1E90-4106-847A-8EF19031FE2F}" type="slidenum">
              <a:rPr lang="en-IN" smtClean="0"/>
              <a:t>‹#›</a:t>
            </a:fld>
            <a:endParaRPr lang="en-I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2" name=""/>
        <p:cNvGrpSpPr/>
        <p:nvPr/>
      </p:nvGrpSpPr>
      <p:grpSpPr>
        <a:xfrm>
          <a:off x="0" y="0"/>
          <a:ext cx="0" cy="0"/>
          <a:chOff x="0" y="0"/>
          <a:chExt cx="0" cy="0"/>
        </a:xfrm>
      </p:grpSpPr>
      <p:sp>
        <p:nvSpPr>
          <p:cNvPr id="1048603" name="Slide Image Placeholder 1"/>
          <p:cNvSpPr>
            <a:spLocks noChangeAspect="1" noRot="1" noGrp="1"/>
          </p:cNvSpPr>
          <p:nvPr>
            <p:ph type="sldImg"/>
          </p:nvPr>
        </p:nvSpPr>
        <p:spPr/>
      </p:sp>
      <p:sp>
        <p:nvSpPr>
          <p:cNvPr id="1048604" name="Notes Placeholder 2"/>
          <p:cNvSpPr>
            <a:spLocks noGrp="1"/>
          </p:cNvSpPr>
          <p:nvPr>
            <p:ph type="body" idx="1"/>
          </p:nvPr>
        </p:nvSpPr>
        <p:spPr/>
        <p:txBody>
          <a:bodyPr/>
          <a:p>
            <a:endParaRPr dirty="0" lang="en-IN"/>
          </a:p>
        </p:txBody>
      </p:sp>
      <p:sp>
        <p:nvSpPr>
          <p:cNvPr id="1048605" name="Slide Number Placeholder 3"/>
          <p:cNvSpPr>
            <a:spLocks noGrp="1"/>
          </p:cNvSpPr>
          <p:nvPr>
            <p:ph type="sldNum" sz="quarter" idx="5"/>
          </p:nvPr>
        </p:nvSpPr>
        <p:spPr/>
        <p:txBody>
          <a:bodyPr/>
          <a:p>
            <a:fld id="{F7F439ED-1E90-4106-847A-8EF19031FE2F}" type="slidenum">
              <a:rPr lang="en-IN" smtClean="0"/>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8" name=""/>
        <p:cNvGrpSpPr/>
        <p:nvPr/>
      </p:nvGrpSpPr>
      <p:grpSpPr>
        <a:xfrm>
          <a:off x="0" y="0"/>
          <a:ext cx="0" cy="0"/>
          <a:chOff x="0" y="0"/>
          <a:chExt cx="0" cy="0"/>
        </a:xfrm>
      </p:grpSpPr>
      <p:sp>
        <p:nvSpPr>
          <p:cNvPr id="1048591" name="Holder 2"/>
          <p:cNvSpPr>
            <a:spLocks noGrp="1"/>
          </p:cNvSpPr>
          <p:nvPr>
            <p:ph type="ctrTitle"/>
          </p:nvPr>
        </p:nvSpPr>
        <p:spPr>
          <a:xfrm>
            <a:off x="3195574" y="2067305"/>
            <a:ext cx="5800851" cy="518160"/>
          </a:xfrm>
          <a:prstGeom prst="rect"/>
        </p:spPr>
        <p:txBody>
          <a:bodyPr bIns="0" lIns="0" rIns="0" tIns="0" wrap="square">
            <a:spAutoFit/>
          </a:bodyPr>
          <a:lstStyle>
            <a:lvl1pPr>
              <a:defRPr b="0" sz="3200" i="0">
                <a:solidFill>
                  <a:schemeClr val="tx1"/>
                </a:solidFill>
                <a:latin typeface="Trebuchet MS"/>
                <a:cs typeface="Trebuchet MS"/>
              </a:defRPr>
            </a:lvl1pPr>
          </a:lstStyle>
          <a:p/>
        </p:txBody>
      </p:sp>
      <p:sp>
        <p:nvSpPr>
          <p:cNvPr id="1048592" name="Holder 3"/>
          <p:cNvSpPr>
            <a:spLocks noGrp="1"/>
          </p:cNvSpPr>
          <p:nvPr>
            <p:ph type="subTitle" idx="4"/>
          </p:nvPr>
        </p:nvSpPr>
        <p:spPr>
          <a:xfrm>
            <a:off x="1828800" y="3840480"/>
            <a:ext cx="8534400" cy="1714500"/>
          </a:xfrm>
          <a:prstGeom prst="rect"/>
        </p:spPr>
        <p:txBody>
          <a:bodyPr bIns="0" lIns="0" rIns="0" tIns="0" wrap="square">
            <a:spAutoFit/>
          </a:bodyPr>
          <a:p/>
        </p:txBody>
      </p:sp>
      <p:sp>
        <p:nvSpPr>
          <p:cNvPr id="1048593"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594"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1048595" name="Holder 6"/>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1" name=""/>
        <p:cNvGrpSpPr/>
        <p:nvPr/>
      </p:nvGrpSpPr>
      <p:grpSpPr>
        <a:xfrm>
          <a:off x="0" y="0"/>
          <a:ext cx="0" cy="0"/>
          <a:chOff x="0" y="0"/>
          <a:chExt cx="0" cy="0"/>
        </a:xfrm>
      </p:grpSpPr>
      <p:sp>
        <p:nvSpPr>
          <p:cNvPr id="1048687" name="Holder 2"/>
          <p:cNvSpPr>
            <a:spLocks noGrp="1"/>
          </p:cNvSpPr>
          <p:nvPr>
            <p:ph type="title"/>
          </p:nvPr>
        </p:nvSpPr>
        <p:spPr/>
        <p:txBody>
          <a:bodyPr bIns="0" lIns="0" rIns="0" tIns="0"/>
          <a:lstStyle>
            <a:lvl1pPr>
              <a:defRPr b="1" sz="4800" i="0">
                <a:solidFill>
                  <a:schemeClr val="tx1"/>
                </a:solidFill>
                <a:latin typeface="Trebuchet MS"/>
                <a:cs typeface="Trebuchet MS"/>
              </a:defRPr>
            </a:lvl1pPr>
          </a:lstStyle>
          <a:p/>
        </p:txBody>
      </p:sp>
      <p:sp>
        <p:nvSpPr>
          <p:cNvPr id="1048688" name="Holder 3"/>
          <p:cNvSpPr>
            <a:spLocks noGrp="1"/>
          </p:cNvSpPr>
          <p:nvPr>
            <p:ph type="body" idx="1"/>
          </p:nvPr>
        </p:nvSpPr>
        <p:spPr/>
        <p:txBody>
          <a:bodyPr bIns="0" lIns="0" rIns="0" tIns="0"/>
          <a:p/>
        </p:txBody>
      </p:sp>
      <p:sp>
        <p:nvSpPr>
          <p:cNvPr id="1048689"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90"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1048691" name="Holder 6"/>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42" name=""/>
        <p:cNvGrpSpPr/>
        <p:nvPr/>
      </p:nvGrpSpPr>
      <p:grpSpPr>
        <a:xfrm>
          <a:off x="0" y="0"/>
          <a:ext cx="0" cy="0"/>
          <a:chOff x="0" y="0"/>
          <a:chExt cx="0" cy="0"/>
        </a:xfrm>
      </p:grpSpPr>
      <p:sp>
        <p:nvSpPr>
          <p:cNvPr id="1048692" name="Holder 2"/>
          <p:cNvSpPr>
            <a:spLocks noGrp="1"/>
          </p:cNvSpPr>
          <p:nvPr>
            <p:ph type="title"/>
          </p:nvPr>
        </p:nvSpPr>
        <p:spPr/>
        <p:txBody>
          <a:bodyPr bIns="0" lIns="0" rIns="0" tIns="0"/>
          <a:lstStyle>
            <a:lvl1pPr>
              <a:defRPr b="1" sz="4800" i="0">
                <a:solidFill>
                  <a:schemeClr val="tx1"/>
                </a:solidFill>
                <a:latin typeface="Trebuchet MS"/>
                <a:cs typeface="Trebuchet MS"/>
              </a:defRPr>
            </a:lvl1pPr>
          </a:lstStyle>
          <a:p/>
        </p:txBody>
      </p:sp>
      <p:sp>
        <p:nvSpPr>
          <p:cNvPr id="1048693" name="Holder 3"/>
          <p:cNvSpPr>
            <a:spLocks noGrp="1"/>
          </p:cNvSpPr>
          <p:nvPr>
            <p:ph sz="half" idx="2"/>
          </p:nvPr>
        </p:nvSpPr>
        <p:spPr>
          <a:xfrm>
            <a:off x="609600" y="1577340"/>
            <a:ext cx="5303520" cy="4526280"/>
          </a:xfrm>
          <a:prstGeom prst="rect"/>
        </p:spPr>
        <p:txBody>
          <a:bodyPr bIns="0" lIns="0" rIns="0" tIns="0" wrap="square">
            <a:spAutoFit/>
          </a:bodyPr>
          <a:p/>
        </p:txBody>
      </p:sp>
      <p:sp>
        <p:nvSpPr>
          <p:cNvPr id="1048694" name="Holder 4"/>
          <p:cNvSpPr>
            <a:spLocks noGrp="1"/>
          </p:cNvSpPr>
          <p:nvPr>
            <p:ph sz="half" idx="3"/>
          </p:nvPr>
        </p:nvSpPr>
        <p:spPr>
          <a:xfrm>
            <a:off x="6278880" y="1577340"/>
            <a:ext cx="5303520" cy="4526280"/>
          </a:xfrm>
          <a:prstGeom prst="rect"/>
        </p:spPr>
        <p:txBody>
          <a:bodyPr bIns="0" lIns="0" rIns="0" tIns="0" wrap="square">
            <a:spAutoFit/>
          </a:bodyPr>
          <a:p/>
        </p:txBody>
      </p:sp>
      <p:sp>
        <p:nvSpPr>
          <p:cNvPr id="1048695" name="Holder 5"/>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96" name="Holder 6"/>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1048697" name="Holder 7"/>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24" name=""/>
        <p:cNvGrpSpPr/>
        <p:nvPr/>
      </p:nvGrpSpPr>
      <p:grpSpPr>
        <a:xfrm>
          <a:off x="0" y="0"/>
          <a:ext cx="0" cy="0"/>
          <a:chOff x="0" y="0"/>
          <a:chExt cx="0" cy="0"/>
        </a:xfrm>
      </p:grpSpPr>
      <p:sp>
        <p:nvSpPr>
          <p:cNvPr id="1048606" name="Holder 2"/>
          <p:cNvSpPr>
            <a:spLocks noGrp="1"/>
          </p:cNvSpPr>
          <p:nvPr>
            <p:ph type="title"/>
          </p:nvPr>
        </p:nvSpPr>
        <p:spPr/>
        <p:txBody>
          <a:bodyPr bIns="0" lIns="0" rIns="0" tIns="0"/>
          <a:lstStyle>
            <a:lvl1pPr>
              <a:defRPr b="1" sz="4800" i="0">
                <a:solidFill>
                  <a:schemeClr val="tx1"/>
                </a:solidFill>
                <a:latin typeface="Trebuchet MS"/>
                <a:cs typeface="Trebuchet MS"/>
              </a:defRPr>
            </a:lvl1pPr>
          </a:lstStyle>
          <a:p/>
        </p:txBody>
      </p:sp>
      <p:sp>
        <p:nvSpPr>
          <p:cNvPr id="1048607" name="Holder 3"/>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08" name="Holder 4"/>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1048609" name="Holder 5"/>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43" name=""/>
        <p:cNvGrpSpPr/>
        <p:nvPr/>
      </p:nvGrpSpPr>
      <p:grpSpPr>
        <a:xfrm>
          <a:off x="0" y="0"/>
          <a:ext cx="0" cy="0"/>
          <a:chOff x="0" y="0"/>
          <a:chExt cx="0" cy="0"/>
        </a:xfrm>
      </p:grpSpPr>
      <p:sp>
        <p:nvSpPr>
          <p:cNvPr id="1048698" name="Holder 2"/>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99" name="Holder 3"/>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1048700" name="Holder 4"/>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2" name=""/>
        <p:cNvGrpSpPr/>
        <p:nvPr/>
      </p:nvGrpSpPr>
      <p:grpSpPr>
        <a:xfrm>
          <a:off x="0" y="0"/>
          <a:ext cx="0" cy="0"/>
          <a:chOff x="0" y="0"/>
          <a:chExt cx="0" cy="0"/>
        </a:xfrm>
      </p:grpSpPr>
      <p:sp>
        <p:nvSpPr>
          <p:cNvPr id="1048576" name="bg object 16"/>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577" name="bg object 17"/>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578" name="bg object 18"/>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579" name="bg object 19"/>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580" name="bg object 20"/>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581" name="bg object 21"/>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582" name="bg object 22"/>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583" name="bg object 23"/>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584" name="bg object 24"/>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sp>
        <p:nvSpPr>
          <p:cNvPr id="1048585" name="bg object 25"/>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586" name="Holder 2"/>
          <p:cNvSpPr>
            <a:spLocks noGrp="1"/>
          </p:cNvSpPr>
          <p:nvPr>
            <p:ph type="title"/>
          </p:nvPr>
        </p:nvSpPr>
        <p:spPr>
          <a:xfrm>
            <a:off x="755332" y="385444"/>
            <a:ext cx="10681335" cy="758190"/>
          </a:xfrm>
          <a:prstGeom prst="rect"/>
        </p:spPr>
        <p:txBody>
          <a:bodyPr bIns="0" lIns="0" rIns="0" tIns="0" wrap="square">
            <a:spAutoFit/>
          </a:bodyPr>
          <a:lstStyle>
            <a:lvl1pPr>
              <a:defRPr b="1" sz="4800" i="0">
                <a:solidFill>
                  <a:schemeClr val="tx1"/>
                </a:solidFill>
                <a:latin typeface="Trebuchet MS"/>
                <a:cs typeface="Trebuchet MS"/>
              </a:defRPr>
            </a:lvl1pPr>
          </a:lstStyle>
          <a:p/>
        </p:txBody>
      </p:sp>
      <p:sp>
        <p:nvSpPr>
          <p:cNvPr id="1048587" name="Holder 3"/>
          <p:cNvSpPr>
            <a:spLocks noGrp="1"/>
          </p:cNvSpPr>
          <p:nvPr>
            <p:ph type="body" idx="1"/>
          </p:nvPr>
        </p:nvSpPr>
        <p:spPr>
          <a:xfrm>
            <a:off x="609600" y="1577340"/>
            <a:ext cx="10972800" cy="4526280"/>
          </a:xfrm>
          <a:prstGeom prst="rect"/>
        </p:spPr>
        <p:txBody>
          <a:bodyPr bIns="0" lIns="0" rIns="0" tIns="0" wrap="square">
            <a:spAutoFit/>
          </a:bodyPr>
          <a:p/>
        </p:txBody>
      </p:sp>
      <p:sp>
        <p:nvSpPr>
          <p:cNvPr id="1048588" name="Holder 4"/>
          <p:cNvSpPr>
            <a:spLocks noGrp="1"/>
          </p:cNvSpPr>
          <p:nvPr>
            <p:ph type="ftr" sz="quarter" idx="5"/>
          </p:nvPr>
        </p:nvSpPr>
        <p:spPr>
          <a:xfrm>
            <a:off x="4145280" y="6377940"/>
            <a:ext cx="3901440" cy="342900"/>
          </a:xfrm>
          <a:prstGeom prst="rect"/>
        </p:spPr>
        <p:txBody>
          <a:bodyPr bIns="0" lIns="0" rIns="0" tIns="0" wrap="square">
            <a:spAutoFit/>
          </a:bodyPr>
          <a:lstStyle>
            <a:lvl1pPr algn="ctr">
              <a:defRPr>
                <a:solidFill>
                  <a:schemeClr val="tx1">
                    <a:tint val="75000"/>
                  </a:schemeClr>
                </a:solidFill>
              </a:defRPr>
            </a:lvl1pPr>
          </a:lstStyle>
          <a:p/>
        </p:txBody>
      </p:sp>
      <p:sp>
        <p:nvSpPr>
          <p:cNvPr id="1048589" name="Holder 5"/>
          <p:cNvSpPr>
            <a:spLocks noGrp="1"/>
          </p:cNvSpPr>
          <p:nvPr>
            <p:ph type="dt" sz="half" idx="6"/>
          </p:nvPr>
        </p:nvSpPr>
        <p:spPr>
          <a:xfrm>
            <a:off x="609600" y="6377940"/>
            <a:ext cx="2804160" cy="342900"/>
          </a:xfrm>
          <a:prstGeom prst="rect"/>
        </p:spPr>
        <p:txBody>
          <a:bodyPr bIns="0" lIns="0" rIns="0" tIns="0" wrap="square">
            <a:spAutoFit/>
          </a:bodyPr>
          <a:lstStyle>
            <a:lvl1pPr algn="l">
              <a:defRPr>
                <a:solidFill>
                  <a:schemeClr val="tx1">
                    <a:tint val="75000"/>
                  </a:schemeClr>
                </a:solidFill>
              </a:defRPr>
            </a:lvl1pPr>
          </a:lstStyle>
          <a:p>
            <a:fld id="{1D8BD707-D9CF-40AE-B4C6-C98DA3205C09}" type="datetimeFigureOut">
              <a:rPr lang="en-US"/>
              <a:t>9/1/2025</a:t>
            </a:fld>
            <a:endParaRPr lang="en-US"/>
          </a:p>
        </p:txBody>
      </p:sp>
      <p:sp>
        <p:nvSpPr>
          <p:cNvPr id="1048590" name="Holder 6"/>
          <p:cNvSpPr>
            <a:spLocks noGrp="1"/>
          </p:cNvSpPr>
          <p:nvPr>
            <p:ph type="sldNum" sz="quarter" idx="7"/>
          </p:nvPr>
        </p:nvSpPr>
        <p:spPr>
          <a:xfrm>
            <a:off x="11353418" y="6473337"/>
            <a:ext cx="151129" cy="191770"/>
          </a:xfrm>
          <a:prstGeom prst="rect"/>
        </p:spPr>
        <p:txBody>
          <a:bodyPr bIns="0" lIns="0" rIns="0" tIns="0" wrap="square">
            <a:spAutoFit/>
          </a:bodyPr>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 accent1="accent1" accent2="accent2" accent3="accent3" accent4="accent4" accent5="accent5" accent6="accent6" bg1="lt1" bg2="lt2" tx1="dk1" tx2="dk2"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4.jpeg"/><Relationship Id="rId4"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image" Target="../media/image11.jpeg"/><Relationship Id="rId3"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9" name=""/>
        <p:cNvGrpSpPr/>
        <p:nvPr/>
      </p:nvGrpSpPr>
      <p:grpSpPr>
        <a:xfrm>
          <a:off x="0" y="0"/>
          <a:ext cx="0" cy="0"/>
          <a:chOff x="0" y="0"/>
          <a:chExt cx="0" cy="0"/>
        </a:xfrm>
      </p:grpSpPr>
      <p:grpSp>
        <p:nvGrpSpPr>
          <p:cNvPr id="20" name="object 2"/>
          <p:cNvGrpSpPr/>
          <p:nvPr/>
        </p:nvGrpSpPr>
        <p:grpSpPr>
          <a:xfrm>
            <a:off x="876299" y="990600"/>
            <a:ext cx="1743075" cy="1333500"/>
            <a:chOff x="742950" y="1104900"/>
            <a:chExt cx="1743075" cy="1333500"/>
          </a:xfrm>
        </p:grpSpPr>
        <p:sp>
          <p:nvSpPr>
            <p:cNvPr id="1048596" name="object 3"/>
            <p:cNvSpPr/>
            <p:nvPr/>
          </p:nvSpPr>
          <p:spPr>
            <a:xfrm>
              <a:off x="742950" y="1381125"/>
              <a:ext cx="1228725" cy="1057275"/>
            </a:xfrm>
            <a:custGeom>
              <a:avLst/>
              <a:ah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bIns="0" lIns="0" rIns="0" rtlCol="0" tIns="0" wrap="square"/>
            <a:p/>
          </p:txBody>
        </p:sp>
        <p:sp>
          <p:nvSpPr>
            <p:cNvPr id="1048597" name="object 4"/>
            <p:cNvSpPr/>
            <p:nvPr/>
          </p:nvSpPr>
          <p:spPr>
            <a:xfrm>
              <a:off x="1838325" y="1104900"/>
              <a:ext cx="647700" cy="561975"/>
            </a:xfrm>
            <a:custGeom>
              <a:avLst/>
              <a:ah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bIns="0" lIns="0" rIns="0" rtlCol="0" tIns="0" wrap="square"/>
            <a:p/>
          </p:txBody>
        </p:sp>
      </p:grpSp>
      <p:sp>
        <p:nvSpPr>
          <p:cNvPr id="1048598" name="object 5"/>
          <p:cNvSpPr/>
          <p:nvPr/>
        </p:nvSpPr>
        <p:spPr>
          <a:xfrm>
            <a:off x="3752850" y="1190625"/>
            <a:ext cx="1666875" cy="1438275"/>
          </a:xfrm>
          <a:custGeom>
            <a:avLst/>
            <a:ah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bIns="0" lIns="0" rIns="0" rtlCol="0" tIns="0" wrap="square"/>
          <a:p/>
        </p:txBody>
      </p:sp>
      <p:sp>
        <p:nvSpPr>
          <p:cNvPr id="1048599" name="object 6"/>
          <p:cNvSpPr/>
          <p:nvPr/>
        </p:nvSpPr>
        <p:spPr>
          <a:xfrm>
            <a:off x="3800475" y="5229225"/>
            <a:ext cx="723900" cy="619125"/>
          </a:xfrm>
          <a:custGeom>
            <a:avLst/>
            <a:ah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bIns="0" lIns="0" rIns="0" rtlCol="0" tIns="0" wrap="square"/>
          <a:p/>
        </p:txBody>
      </p:sp>
      <p:sp>
        <p:nvSpPr>
          <p:cNvPr id="1048600" name="object 7"/>
          <p:cNvSpPr txBox="1">
            <a:spLocks noGrp="1"/>
          </p:cNvSpPr>
          <p:nvPr>
            <p:ph type="ctrTitle"/>
          </p:nvPr>
        </p:nvSpPr>
        <p:spPr>
          <a:xfrm>
            <a:off x="1523999" y="19665"/>
            <a:ext cx="7629525" cy="981710"/>
          </a:xfrm>
          <a:prstGeom prst="rect"/>
        </p:spPr>
        <p:txBody>
          <a:bodyPr bIns="0" lIns="0" rIns="0" rtlCol="0" tIns="16510" vert="horz" wrap="square">
            <a:spAutoFit/>
          </a:bodyPr>
          <a:p>
            <a:pPr marL="3213735">
              <a:spcBef>
                <a:spcPts val="130"/>
              </a:spcBef>
            </a:pPr>
            <a:r>
              <a:rPr b="1" dirty="0" i="0" lang="en-US">
                <a:solidFill>
                  <a:srgbClr val="0F0F0F"/>
                </a:solidFill>
                <a:effectLst/>
                <a:latin typeface="Times New Roman" panose="02020603050405020304" pitchFamily="18" charset="0"/>
                <a:cs typeface="Times New Roman" panose="02020603050405020304" pitchFamily="18" charset="0"/>
              </a:rPr>
              <a:t>Digital Portfolio </a:t>
            </a:r>
            <a:r>
              <a:rPr b="1" dirty="0" i="0" lang="en-US">
                <a:solidFill>
                  <a:srgbClr val="0F0F0F"/>
                </a:solidFill>
                <a:effectLst/>
                <a:latin typeface="Roboto" panose="020F0502020204030204" pitchFamily="2" charset="0"/>
              </a:rPr>
              <a:t/>
            </a:r>
            <a:br>
              <a:rPr b="1" dirty="0" i="0" lang="en-US">
                <a:solidFill>
                  <a:srgbClr val="0F0F0F"/>
                </a:solidFill>
                <a:effectLst/>
                <a:latin typeface="Roboto" panose="020F0502020204030204" pitchFamily="2" charset="0"/>
              </a:rPr>
            </a:br>
            <a:endParaRPr dirty="0" spc="15"/>
          </a:p>
        </p:txBody>
      </p:sp>
      <p:pic>
        <p:nvPicPr>
          <p:cNvPr id="2097152" name="object 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sp>
        <p:nvSpPr>
          <p:cNvPr id="1048601" name="object 11"/>
          <p:cNvSpPr txBox="1">
            <a:spLocks noGrp="1"/>
          </p:cNvSpPr>
          <p:nvPr>
            <p:ph type="sldNum" sz="quarter" idx="7"/>
          </p:nvPr>
        </p:nvSpPr>
        <p:spPr>
          <a:xfrm>
            <a:off x="11353418" y="6473337"/>
            <a:ext cx="151129"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pc="10"/>
              <a:t>1</a:t>
            </a:fld>
            <a:endParaRPr dirty="0" spc="10"/>
          </a:p>
        </p:txBody>
      </p:sp>
      <p:sp>
        <p:nvSpPr>
          <p:cNvPr id="1048602" name="TextBox 13" descr="STUDENT NAME: Madhavan T REGISTER NO AND NMID: asunm126212400641 DEPARTMENT: BCA COLLEGE: JAYA COLLEGE OF ARTS &amp; SCIENCE/UNIVERSITY OF MADRAS"/>
          <p:cNvSpPr txBox="1"/>
          <p:nvPr/>
        </p:nvSpPr>
        <p:spPr>
          <a:xfrm>
            <a:off x="2554542" y="3314150"/>
            <a:ext cx="8610600" cy="1844040"/>
          </a:xfrm>
          <a:prstGeom prst="rect"/>
          <a:noFill/>
        </p:spPr>
        <p:txBody>
          <a:bodyPr anchor="t" bIns="45720" lIns="91440" rIns="91440" rtlCol="0" tIns="45720" wrap="square">
            <a:spAutoFit/>
          </a:bodyPr>
          <a:p>
            <a:r>
              <a:rPr dirty="0" sz="2400" lang="en-US"/>
              <a:t>STUDENT NAME: </a:t>
            </a:r>
            <a:r>
              <a:rPr dirty="0" sz="2400" lang="en-US"/>
              <a:t>G</a:t>
            </a:r>
            <a:r>
              <a:rPr dirty="0" sz="2400" lang="en-US"/>
              <a:t>a</a:t>
            </a:r>
            <a:r>
              <a:rPr dirty="0" sz="2400" lang="en-US"/>
              <a:t>y</a:t>
            </a:r>
            <a:r>
              <a:rPr dirty="0" sz="2400" lang="en-US"/>
              <a:t>a</a:t>
            </a:r>
            <a:r>
              <a:rPr dirty="0" sz="2400" lang="en-US"/>
              <a:t>thri</a:t>
            </a:r>
            <a:r>
              <a:rPr dirty="0" sz="2400" lang="en-US"/>
              <a:t>.</a:t>
            </a:r>
            <a:r>
              <a:rPr dirty="0" sz="2400" lang="en-US"/>
              <a:t> </a:t>
            </a:r>
            <a:r>
              <a:rPr dirty="0" sz="2400" lang="en-US"/>
              <a:t>S</a:t>
            </a:r>
            <a:endParaRPr altLang="en-US" lang="zh-CN"/>
          </a:p>
          <a:p>
            <a:r>
              <a:rPr dirty="0" sz="2400" lang="en-US"/>
              <a:t>REGISTER NO AND NMID: </a:t>
            </a:r>
            <a:r>
              <a:rPr dirty="0" sz="2400" lang="en-US"/>
              <a:t>2</a:t>
            </a:r>
            <a:r>
              <a:rPr dirty="0" sz="2400" lang="en-US"/>
              <a:t>1</a:t>
            </a:r>
            <a:r>
              <a:rPr dirty="0" sz="2400" lang="en-US"/>
              <a:t>2</a:t>
            </a:r>
            <a:r>
              <a:rPr dirty="0" sz="2400" lang="en-US"/>
              <a:t>4</a:t>
            </a:r>
            <a:r>
              <a:rPr dirty="0" sz="2400" lang="en-US"/>
              <a:t>0</a:t>
            </a:r>
            <a:r>
              <a:rPr dirty="0" sz="2400" lang="en-US"/>
              <a:t>0</a:t>
            </a:r>
            <a:r>
              <a:rPr dirty="0" sz="2400" lang="en-US"/>
              <a:t>6</a:t>
            </a:r>
            <a:r>
              <a:rPr dirty="0" sz="2400" lang="en-US"/>
              <a:t>0</a:t>
            </a:r>
            <a:r>
              <a:rPr dirty="0" sz="2400" lang="en-US"/>
              <a:t>9</a:t>
            </a:r>
            <a:endParaRPr dirty="0" sz="2400" lang="en-US">
              <a:cs typeface="Calibri"/>
            </a:endParaRPr>
          </a:p>
          <a:p>
            <a:r>
              <a:rPr dirty="0" sz="2400" lang="en-US"/>
              <a:t>DEPARTMENT: </a:t>
            </a:r>
            <a:r>
              <a:rPr dirty="0" sz="2400" lang="en-US"/>
              <a:t>B</a:t>
            </a:r>
            <a:r>
              <a:rPr dirty="0" sz="2400" lang="en-US"/>
              <a:t>C</a:t>
            </a:r>
            <a:r>
              <a:rPr dirty="0" sz="2400" lang="en-US"/>
              <a:t>A</a:t>
            </a:r>
            <a:endParaRPr altLang="en-US" lang="zh-CN"/>
          </a:p>
          <a:p>
            <a:r>
              <a:rPr dirty="0" sz="2400" lang="en-US"/>
              <a:t>COLLEGE: </a:t>
            </a:r>
            <a:r>
              <a:rPr dirty="0" sz="2400" lang="en-US"/>
              <a:t>J</a:t>
            </a:r>
            <a:r>
              <a:rPr dirty="0" sz="2400" lang="en-US"/>
              <a:t>A</a:t>
            </a:r>
            <a:r>
              <a:rPr dirty="0" sz="2400" lang="en-US"/>
              <a:t>Y</a:t>
            </a:r>
            <a:r>
              <a:rPr dirty="0" sz="2400" lang="en-US"/>
              <a:t>A</a:t>
            </a:r>
            <a:r>
              <a:rPr dirty="0" sz="2400" lang="en-US"/>
              <a:t> </a:t>
            </a:r>
            <a:r>
              <a:rPr dirty="0" sz="2400" lang="en-US"/>
              <a:t>COLLEGE</a:t>
            </a:r>
            <a:r>
              <a:rPr dirty="0" sz="2400" lang="en-US"/>
              <a:t> </a:t>
            </a:r>
            <a:r>
              <a:rPr dirty="0" sz="2400" lang="en-US"/>
              <a:t>O</a:t>
            </a:r>
            <a:r>
              <a:rPr dirty="0" sz="2400" lang="en-US"/>
              <a:t>F</a:t>
            </a:r>
            <a:r>
              <a:rPr dirty="0" sz="2400" lang="en-US"/>
              <a:t> </a:t>
            </a:r>
            <a:r>
              <a:rPr dirty="0" sz="2400" lang="en-US"/>
              <a:t>A</a:t>
            </a:r>
            <a:r>
              <a:rPr dirty="0" sz="2400" lang="en-US"/>
              <a:t>R</a:t>
            </a:r>
            <a:r>
              <a:rPr dirty="0" sz="2400" lang="en-US"/>
              <a:t>T</a:t>
            </a:r>
            <a:r>
              <a:rPr dirty="0" sz="2400" lang="en-US"/>
              <a:t>S</a:t>
            </a:r>
            <a:r>
              <a:rPr dirty="0" sz="2400" lang="en-US"/>
              <a:t> </a:t>
            </a:r>
            <a:r>
              <a:rPr dirty="0" sz="2400" lang="en-US"/>
              <a:t>A</a:t>
            </a:r>
            <a:r>
              <a:rPr dirty="0" sz="2400" lang="en-US"/>
              <a:t>N</a:t>
            </a:r>
            <a:r>
              <a:rPr dirty="0" sz="2400" lang="en-US"/>
              <a:t>D</a:t>
            </a:r>
            <a:r>
              <a:rPr dirty="0" sz="2400" lang="en-US"/>
              <a:t> </a:t>
            </a:r>
            <a:r>
              <a:rPr dirty="0" sz="2400" lang="en-US"/>
              <a:t>S</a:t>
            </a:r>
            <a:r>
              <a:rPr dirty="0" sz="2400" lang="en-US"/>
              <a:t>C</a:t>
            </a:r>
            <a:r>
              <a:rPr dirty="0" sz="2400" lang="en-US"/>
              <a:t>I</a:t>
            </a:r>
            <a:r>
              <a:rPr dirty="0" sz="2400" lang="en-US"/>
              <a:t>ENCE</a:t>
            </a:r>
            <a:r>
              <a:rPr dirty="0" sz="2400" lang="en-US"/>
              <a:t>/ </a:t>
            </a:r>
            <a:r>
              <a:rPr dirty="0" sz="2400" lang="en-US"/>
              <a:t>M</a:t>
            </a:r>
            <a:r>
              <a:rPr dirty="0" sz="2400" lang="en-US"/>
              <a:t>A</a:t>
            </a:r>
            <a:r>
              <a:rPr dirty="0" sz="2400" lang="en-US"/>
              <a:t>D</a:t>
            </a:r>
            <a:r>
              <a:rPr dirty="0" sz="2400" lang="en-US"/>
              <a:t>R</a:t>
            </a:r>
            <a:r>
              <a:rPr dirty="0" sz="2400" lang="en-US"/>
              <a:t>A</a:t>
            </a:r>
            <a:r>
              <a:rPr dirty="0" sz="2400" lang="en-US"/>
              <a:t>S</a:t>
            </a:r>
            <a:r>
              <a:rPr dirty="0" sz="2400" lang="en-US"/>
              <a:t> </a:t>
            </a:r>
            <a:r>
              <a:rPr dirty="0" sz="2400" lang="en-US"/>
              <a:t>UNIVERSITY</a:t>
            </a:r>
            <a:endParaRPr altLang="en-US" lang="zh-CN"/>
          </a:p>
          <a:p>
            <a:r>
              <a:rPr dirty="0" sz="2400" lang="en-US"/>
              <a:t>           </a:t>
            </a:r>
            <a:endParaRPr dirty="0" sz="2400"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25" name=""/>
        <p:cNvGrpSpPr/>
        <p:nvPr/>
      </p:nvGrpSpPr>
      <p:grpSpPr>
        <a:xfrm>
          <a:off x="0" y="0"/>
          <a:ext cx="0" cy="0"/>
          <a:chOff x="0" y="0"/>
          <a:chExt cx="0" cy="0"/>
        </a:xfrm>
      </p:grpSpPr>
      <p:sp>
        <p:nvSpPr>
          <p:cNvPr id="1048610" name="object 2"/>
          <p:cNvSpPr/>
          <p:nvPr/>
        </p:nvSpPr>
        <p:spPr>
          <a:xfrm>
            <a:off x="0" y="0"/>
            <a:ext cx="12192000" cy="6858000"/>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a:endParaRPr dirty="0">
              <a:latin typeface="Times New Roman" panose="02020603050405020304" pitchFamily="18" charset="0"/>
              <a:cs typeface="Times New Roman" panose="02020603050405020304" pitchFamily="18" charset="0"/>
            </a:endParaRPr>
          </a:p>
        </p:txBody>
      </p:sp>
      <p:grpSp>
        <p:nvGrpSpPr>
          <p:cNvPr id="26" name="object 3"/>
          <p:cNvGrpSpPr/>
          <p:nvPr/>
        </p:nvGrpSpPr>
        <p:grpSpPr>
          <a:xfrm>
            <a:off x="7443849" y="0"/>
            <a:ext cx="4752975" cy="6863080"/>
            <a:chOff x="7443849" y="0"/>
            <a:chExt cx="4752975" cy="6863080"/>
          </a:xfrm>
        </p:grpSpPr>
        <p:sp>
          <p:nvSpPr>
            <p:cNvPr id="1048611"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612"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613"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614"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615"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616"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617"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618"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619"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grpSp>
      <p:sp>
        <p:nvSpPr>
          <p:cNvPr id="1048620"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21" name="object 14"/>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22" name="object 15"/>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23" name="object 16"/>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24" name="object 17"/>
          <p:cNvSpPr txBox="1">
            <a:spLocks noGrp="1"/>
          </p:cNvSpPr>
          <p:nvPr>
            <p:ph type="title"/>
          </p:nvPr>
        </p:nvSpPr>
        <p:spPr>
          <a:xfrm>
            <a:off x="739775" y="829627"/>
            <a:ext cx="3909695" cy="1083311"/>
          </a:xfrm>
          <a:prstGeom prst="rect"/>
        </p:spPr>
        <p:txBody>
          <a:bodyPr bIns="0" lIns="0" rIns="0" rtlCol="0" tIns="16510" vert="horz" wrap="square">
            <a:spAutoFit/>
          </a:bodyPr>
          <a:p>
            <a:pPr marL="12700">
              <a:lnSpc>
                <a:spcPct val="100000"/>
              </a:lnSpc>
              <a:spcBef>
                <a:spcPts val="130"/>
              </a:spcBef>
            </a:pPr>
            <a:r>
              <a:rPr dirty="0" sz="4250" lang="en-US" spc="5" smtClean="0"/>
              <a:t>Interactive digital portfolio</a:t>
            </a:r>
            <a:endParaRPr dirty="0" sz="4250"/>
          </a:p>
        </p:txBody>
      </p:sp>
      <p:grpSp>
        <p:nvGrpSpPr>
          <p:cNvPr id="27" name="object 18"/>
          <p:cNvGrpSpPr/>
          <p:nvPr/>
        </p:nvGrpSpPr>
        <p:grpSpPr>
          <a:xfrm>
            <a:off x="466725" y="6410325"/>
            <a:ext cx="3705225" cy="295275"/>
            <a:chOff x="466725" y="6410325"/>
            <a:chExt cx="3705225" cy="295275"/>
          </a:xfrm>
        </p:grpSpPr>
        <p:pic>
          <p:nvPicPr>
            <p:cNvPr id="2097153" name="object 1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pic>
          <p:nvPicPr>
            <p:cNvPr id="2097154" name="object 20"/>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grpSp>
      <p:sp>
        <p:nvSpPr>
          <p:cNvPr id="1048625" name="object 22"/>
          <p:cNvSpPr txBox="1">
            <a:spLocks noGrp="1"/>
          </p:cNvSpPr>
          <p:nvPr>
            <p:ph type="sldNum" sz="quarter" idx="7"/>
          </p:nvPr>
        </p:nvSpPr>
        <p:spPr>
          <a:xfrm>
            <a:off x="11353418" y="6473337"/>
            <a:ext cx="151129"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pc="10"/>
              <a:t>2</a:t>
            </a:fld>
            <a:endParaRPr dirty="0" spc="1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28" name=""/>
        <p:cNvGrpSpPr/>
        <p:nvPr/>
      </p:nvGrpSpPr>
      <p:grpSpPr>
        <a:xfrm>
          <a:off x="0" y="0"/>
          <a:ext cx="0" cy="0"/>
          <a:chOff x="0" y="0"/>
          <a:chExt cx="0" cy="0"/>
        </a:xfrm>
      </p:grpSpPr>
      <p:sp>
        <p:nvSpPr>
          <p:cNvPr id="1048626" name="object 2"/>
          <p:cNvSpPr/>
          <p:nvPr/>
        </p:nvSpPr>
        <p:spPr>
          <a:xfrm>
            <a:off x="-76200" y="28579"/>
            <a:ext cx="12481713" cy="6858000"/>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a:endParaRPr dirty="0"/>
          </a:p>
        </p:txBody>
      </p:sp>
      <p:grpSp>
        <p:nvGrpSpPr>
          <p:cNvPr id="29" name="object 3"/>
          <p:cNvGrpSpPr/>
          <p:nvPr/>
        </p:nvGrpSpPr>
        <p:grpSpPr>
          <a:xfrm>
            <a:off x="7443849" y="0"/>
            <a:ext cx="4752975" cy="6863080"/>
            <a:chOff x="7443849" y="0"/>
            <a:chExt cx="4752975" cy="6863080"/>
          </a:xfrm>
        </p:grpSpPr>
        <p:sp>
          <p:nvSpPr>
            <p:cNvPr id="1048627"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628"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629"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630"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631"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632"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633"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634"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635"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grpSp>
      <p:sp>
        <p:nvSpPr>
          <p:cNvPr id="1048636"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37" name="object 14"/>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a:cs typeface="Trebuchet MS"/>
              </a:rPr>
              <a:t>3/21/202</a:t>
            </a:r>
            <a:r>
              <a:rPr dirty="0" sz="1100" spc="10">
                <a:solidFill>
                  <a:srgbClr val="2D83C3"/>
                </a:solidFill>
                <a:latin typeface="Trebuchet MS"/>
                <a:cs typeface="Trebuchet MS"/>
              </a:rPr>
              <a:t>4</a:t>
            </a:r>
            <a:r>
              <a:rPr dirty="0" sz="1100">
                <a:solidFill>
                  <a:srgbClr val="2D83C3"/>
                </a:solidFill>
                <a:latin typeface="Trebuchet MS"/>
                <a:cs typeface="Trebuchet MS"/>
              </a:rPr>
              <a:t> </a:t>
            </a:r>
            <a:r>
              <a:rPr dirty="0" sz="1100" spc="130">
                <a:solidFill>
                  <a:srgbClr val="2D83C3"/>
                </a:solidFill>
                <a:latin typeface="Trebuchet MS"/>
                <a:cs typeface="Trebuchet MS"/>
              </a:rPr>
              <a:t> </a:t>
            </a:r>
            <a:r>
              <a:rPr b="1" dirty="0" sz="1100" spc="50">
                <a:solidFill>
                  <a:srgbClr val="2D83C3"/>
                </a:solidFill>
                <a:latin typeface="Trebuchet MS"/>
                <a:cs typeface="Trebuchet MS"/>
              </a:rPr>
              <a:t>A</a:t>
            </a:r>
            <a:r>
              <a:rPr b="1" dirty="0" sz="1100" spc="15">
                <a:solidFill>
                  <a:srgbClr val="2D83C3"/>
                </a:solidFill>
                <a:latin typeface="Trebuchet MS"/>
                <a:cs typeface="Trebuchet MS"/>
              </a:rPr>
              <a:t>nnu</a:t>
            </a:r>
            <a:r>
              <a:rPr b="1" dirty="0" sz="1100" spc="10">
                <a:solidFill>
                  <a:srgbClr val="2D83C3"/>
                </a:solidFill>
                <a:latin typeface="Trebuchet MS"/>
                <a:cs typeface="Trebuchet MS"/>
              </a:rPr>
              <a:t>al</a:t>
            </a:r>
            <a:r>
              <a:rPr b="1" dirty="0" sz="1100" spc="-140">
                <a:solidFill>
                  <a:srgbClr val="2D83C3"/>
                </a:solidFill>
                <a:latin typeface="Trebuchet MS"/>
                <a:cs typeface="Trebuchet MS"/>
              </a:rPr>
              <a:t> </a:t>
            </a:r>
            <a:r>
              <a:rPr b="1" dirty="0" sz="1100">
                <a:solidFill>
                  <a:srgbClr val="2D83C3"/>
                </a:solidFill>
                <a:latin typeface="Trebuchet MS"/>
                <a:cs typeface="Trebuchet MS"/>
              </a:rPr>
              <a:t>R</a:t>
            </a:r>
            <a:r>
              <a:rPr b="1" dirty="0" sz="1100" spc="35">
                <a:solidFill>
                  <a:srgbClr val="2D83C3"/>
                </a:solidFill>
                <a:latin typeface="Trebuchet MS"/>
                <a:cs typeface="Trebuchet MS"/>
              </a:rPr>
              <a:t>e</a:t>
            </a:r>
            <a:r>
              <a:rPr b="1" dirty="0" sz="1100" spc="90">
                <a:solidFill>
                  <a:srgbClr val="2D83C3"/>
                </a:solidFill>
                <a:latin typeface="Trebuchet MS"/>
                <a:cs typeface="Trebuchet MS"/>
              </a:rPr>
              <a:t>v</a:t>
            </a:r>
            <a:r>
              <a:rPr b="1" dirty="0" sz="1100" spc="-35">
                <a:solidFill>
                  <a:srgbClr val="2D83C3"/>
                </a:solidFill>
                <a:latin typeface="Trebuchet MS"/>
                <a:cs typeface="Trebuchet MS"/>
              </a:rPr>
              <a:t>i</a:t>
            </a:r>
            <a:r>
              <a:rPr b="1" dirty="0" sz="1100" spc="35">
                <a:solidFill>
                  <a:srgbClr val="2D83C3"/>
                </a:solidFill>
                <a:latin typeface="Trebuchet MS"/>
                <a:cs typeface="Trebuchet MS"/>
              </a:rPr>
              <a:t>e</a:t>
            </a:r>
            <a:r>
              <a:rPr b="1" dirty="0" sz="1100" spc="15">
                <a:solidFill>
                  <a:srgbClr val="2D83C3"/>
                </a:solidFill>
                <a:latin typeface="Trebuchet MS"/>
                <a:cs typeface="Trebuchet MS"/>
              </a:rPr>
              <a:t>w</a:t>
            </a:r>
            <a:endParaRPr sz="1100">
              <a:latin typeface="Trebuchet MS"/>
              <a:cs typeface="Trebuchet MS"/>
            </a:endParaRPr>
          </a:p>
        </p:txBody>
      </p:sp>
      <p:sp>
        <p:nvSpPr>
          <p:cNvPr id="1048638" name="object 15"/>
          <p:cNvSpPr/>
          <p:nvPr/>
        </p:nvSpPr>
        <p:spPr>
          <a:xfrm>
            <a:off x="7362825" y="447675"/>
            <a:ext cx="361950" cy="361950"/>
          </a:xfrm>
          <a:custGeom>
            <a:avLst/>
            <a:ah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bIns="0" lIns="0" rIns="0" rtlCol="0" tIns="0" wrap="square"/>
          <a:p/>
        </p:txBody>
      </p:sp>
      <p:sp>
        <p:nvSpPr>
          <p:cNvPr id="1048639" name="object 16"/>
          <p:cNvSpPr/>
          <p:nvPr/>
        </p:nvSpPr>
        <p:spPr>
          <a:xfrm>
            <a:off x="11010900" y="5610225"/>
            <a:ext cx="647700" cy="647700"/>
          </a:xfrm>
          <a:custGeom>
            <a:avLst/>
            <a:ah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bIns="0" lIns="0" rIns="0" rtlCol="0" tIns="0" wrap="square"/>
          <a:p/>
        </p:txBody>
      </p:sp>
      <p:pic>
        <p:nvPicPr>
          <p:cNvPr id="2097155" name="object 17"/>
          <p:cNvPicPr>
            <a:picLocks/>
          </p:cNvPicPr>
          <p:nvPr/>
        </p:nvPicPr>
        <p:blipFill>
          <a:blip xmlns:r="http://schemas.openxmlformats.org/officeDocument/2006/relationships" r:embed="rId1" cstate="print"/>
          <a:stretch>
            <a:fillRect/>
          </a:stretch>
        </p:blipFill>
        <p:spPr>
          <a:xfrm>
            <a:off x="10687050" y="6134100"/>
            <a:ext cx="247650" cy="247650"/>
          </a:xfrm>
          <a:prstGeom prst="rect"/>
        </p:spPr>
      </p:pic>
      <p:grpSp>
        <p:nvGrpSpPr>
          <p:cNvPr id="30" name="object 18"/>
          <p:cNvGrpSpPr/>
          <p:nvPr/>
        </p:nvGrpSpPr>
        <p:grpSpPr>
          <a:xfrm>
            <a:off x="47625" y="3819523"/>
            <a:ext cx="4124325" cy="3009900"/>
            <a:chOff x="47625" y="3819523"/>
            <a:chExt cx="4124325" cy="3009900"/>
          </a:xfrm>
        </p:grpSpPr>
        <p:pic>
          <p:nvPicPr>
            <p:cNvPr id="2097156" name="object 19"/>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pic>
          <p:nvPicPr>
            <p:cNvPr id="2097157" name="object 20"/>
            <p:cNvPicPr>
              <a:picLocks/>
            </p:cNvPicPr>
            <p:nvPr/>
          </p:nvPicPr>
          <p:blipFill>
            <a:blip xmlns:r="http://schemas.openxmlformats.org/officeDocument/2006/relationships" r:embed="rId3" cstate="print"/>
            <a:stretch>
              <a:fillRect/>
            </a:stretch>
          </p:blipFill>
          <p:spPr>
            <a:xfrm>
              <a:off x="47625" y="3819523"/>
              <a:ext cx="1733550" cy="3009898"/>
            </a:xfrm>
            <a:prstGeom prst="rect"/>
          </p:spPr>
        </p:pic>
      </p:grpSp>
      <p:sp>
        <p:nvSpPr>
          <p:cNvPr id="1048640" name="object 21"/>
          <p:cNvSpPr txBox="1">
            <a:spLocks noGrp="1"/>
          </p:cNvSpPr>
          <p:nvPr>
            <p:ph type="title"/>
          </p:nvPr>
        </p:nvSpPr>
        <p:spPr>
          <a:xfrm>
            <a:off x="739775" y="445388"/>
            <a:ext cx="2357120" cy="610235"/>
          </a:xfrm>
          <a:prstGeom prst="rect"/>
        </p:spPr>
        <p:txBody>
          <a:bodyPr bIns="0" lIns="0" rIns="0" rtlCol="0" tIns="13335" vert="horz" wrap="square">
            <a:spAutoFit/>
          </a:bodyPr>
          <a:p>
            <a:pPr marL="12700">
              <a:lnSpc>
                <a:spcPct val="100000"/>
              </a:lnSpc>
              <a:spcBef>
                <a:spcPts val="105"/>
              </a:spcBef>
            </a:pPr>
            <a:r>
              <a:rPr dirty="0" spc="25"/>
              <a:t>A</a:t>
            </a:r>
            <a:r>
              <a:rPr dirty="0" spc="-5"/>
              <a:t>G</a:t>
            </a:r>
            <a:r>
              <a:rPr dirty="0" spc="-35"/>
              <a:t>E</a:t>
            </a:r>
            <a:r>
              <a:rPr dirty="0" spc="15"/>
              <a:t>N</a:t>
            </a:r>
            <a:r>
              <a:rPr dirty="0"/>
              <a:t>DA</a:t>
            </a:r>
          </a:p>
        </p:txBody>
      </p:sp>
      <p:sp>
        <p:nvSpPr>
          <p:cNvPr id="1048641" name="object 22"/>
          <p:cNvSpPr txBox="1">
            <a:spLocks noGrp="1"/>
          </p:cNvSpPr>
          <p:nvPr>
            <p:ph type="sldNum" sz="quarter" idx="7"/>
          </p:nvPr>
        </p:nvSpPr>
        <p:spPr>
          <a:xfrm>
            <a:off x="11353418" y="6473337"/>
            <a:ext cx="151129"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pc="10"/>
              <a:t>3</a:t>
            </a:fld>
            <a:endParaRPr dirty="0" spc="10"/>
          </a:p>
        </p:txBody>
      </p:sp>
      <p:sp>
        <p:nvSpPr>
          <p:cNvPr id="1048642" name="TextBox 22"/>
          <p:cNvSpPr txBox="1"/>
          <p:nvPr/>
        </p:nvSpPr>
        <p:spPr>
          <a:xfrm>
            <a:off x="2509807" y="1041533"/>
            <a:ext cx="5029200" cy="3863340"/>
          </a:xfrm>
          <a:prstGeom prst="rect"/>
          <a:noFill/>
        </p:spPr>
        <p:txBody>
          <a:bodyPr rtlCol="0" wrap="square">
            <a:spAutoFit/>
          </a:bodyPr>
          <a:p>
            <a:pPr algn="l"/>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dirty="0" sz="2800" lang="en-US">
                <a:solidFill>
                  <a:srgbClr val="0D0D0D"/>
                </a:solidFill>
                <a:latin typeface="Times New Roman" panose="02020603050405020304" pitchFamily="18" charset="0"/>
                <a:cs typeface="Times New Roman" panose="02020603050405020304" pitchFamily="18" charset="0"/>
              </a:rPr>
              <a:t>Tools and Technologies</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Portfolio design and Layout</a:t>
            </a:r>
          </a:p>
          <a:p>
            <a:pPr algn="l">
              <a:buFont typeface="+mj-lt"/>
              <a:buAutoNum type="arabicPeriod"/>
            </a:pPr>
            <a:r>
              <a:rPr dirty="0" sz="2800" lang="en-US">
                <a:solidFill>
                  <a:srgbClr val="0D0D0D"/>
                </a:solidFill>
                <a:latin typeface="Times New Roman" panose="02020603050405020304" pitchFamily="18" charset="0"/>
                <a:cs typeface="Times New Roman" panose="02020603050405020304" pitchFamily="18" charset="0"/>
              </a:rPr>
              <a:t>Features and Functionality</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Results and </a:t>
            </a:r>
            <a:r>
              <a:rPr dirty="0" sz="2800" lang="en-US">
                <a:solidFill>
                  <a:srgbClr val="0D0D0D"/>
                </a:solidFill>
                <a:latin typeface="Times New Roman" panose="02020603050405020304" pitchFamily="18" charset="0"/>
                <a:cs typeface="Times New Roman" panose="02020603050405020304" pitchFamily="18" charset="0"/>
              </a:rPr>
              <a:t>Screenshots</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Conclusion</a:t>
            </a:r>
          </a:p>
          <a:p>
            <a:pPr algn="l">
              <a:buFont typeface="+mj-lt"/>
              <a:buAutoNum type="arabicPeriod"/>
            </a:pPr>
            <a:r>
              <a:rPr dirty="0" sz="2800" lang="en-US" err="1">
                <a:solidFill>
                  <a:srgbClr val="0D0D0D"/>
                </a:solidFill>
                <a:latin typeface="Times New Roman" panose="02020603050405020304" pitchFamily="18" charset="0"/>
                <a:cs typeface="Times New Roman" panose="02020603050405020304" pitchFamily="18" charset="0"/>
              </a:rPr>
              <a:t>Github</a:t>
            </a:r>
            <a:r>
              <a:rPr dirty="0" sz="2800" lang="en-US">
                <a:solidFill>
                  <a:srgbClr val="0D0D0D"/>
                </a:solidFill>
                <a:latin typeface="Times New Roman" panose="02020603050405020304" pitchFamily="18" charset="0"/>
                <a:cs typeface="Times New Roman" panose="02020603050405020304" pitchFamily="18" charset="0"/>
              </a:rPr>
              <a:t> Link</a:t>
            </a:r>
            <a:endParaRPr b="0" dirty="0" sz="2800" i="0" lang="en-US">
              <a:solidFill>
                <a:srgbClr val="0D0D0D"/>
              </a:solidFill>
              <a:effectLst/>
              <a:latin typeface="Times New Roman" panose="02020603050405020304" pitchFamily="18" charset="0"/>
              <a:cs typeface="Times New Roman" panose="02020603050405020304" pitchFamily="18" charset="0"/>
            </a:endParaRPr>
          </a:p>
          <a:p>
            <a:endParaRPr dirty="0" sz="2800"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grpSp>
        <p:nvGrpSpPr>
          <p:cNvPr id="32" name="object 2"/>
          <p:cNvGrpSpPr/>
          <p:nvPr/>
        </p:nvGrpSpPr>
        <p:grpSpPr>
          <a:xfrm>
            <a:off x="7991475" y="2933700"/>
            <a:ext cx="2762250" cy="3257550"/>
            <a:chOff x="7991475" y="2933700"/>
            <a:chExt cx="2762250" cy="3257550"/>
          </a:xfrm>
        </p:grpSpPr>
        <p:sp>
          <p:nvSpPr>
            <p:cNvPr id="1048643"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44"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58" name="object 5"/>
            <p:cNvPicPr>
              <a:picLocks/>
            </p:cNvPicPr>
            <p:nvPr/>
          </p:nvPicPr>
          <p:blipFill>
            <a:blip xmlns:r="http://schemas.openxmlformats.org/officeDocument/2006/relationships" r:embed="rId1" cstate="print"/>
            <a:stretch>
              <a:fillRect/>
            </a:stretch>
          </p:blipFill>
          <p:spPr>
            <a:xfrm>
              <a:off x="7991475" y="2933700"/>
              <a:ext cx="2762250" cy="3257550"/>
            </a:xfrm>
            <a:prstGeom prst="rect"/>
          </p:spPr>
        </p:pic>
      </p:grpSp>
      <p:sp>
        <p:nvSpPr>
          <p:cNvPr id="1048645"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a:endParaRPr dirty="0"/>
          </a:p>
        </p:txBody>
      </p:sp>
      <p:sp>
        <p:nvSpPr>
          <p:cNvPr id="1048646" name="object 7"/>
          <p:cNvSpPr txBox="1">
            <a:spLocks noGrp="1"/>
          </p:cNvSpPr>
          <p:nvPr>
            <p:ph type="title"/>
          </p:nvPr>
        </p:nvSpPr>
        <p:spPr>
          <a:xfrm>
            <a:off x="834072" y="575055"/>
            <a:ext cx="5636895" cy="549910"/>
          </a:xfrm>
          <a:prstGeom prst="rect"/>
        </p:spPr>
        <p:txBody>
          <a:bodyPr bIns="0" lIns="0" rIns="0" rtlCol="0" tIns="16510" vert="horz" wrap="square">
            <a:spAutoFit/>
          </a:bodyPr>
          <a:p>
            <a:pPr marL="12700">
              <a:lnSpc>
                <a:spcPct val="100000"/>
              </a:lnSpc>
              <a:spcBef>
                <a:spcPts val="130"/>
              </a:spcBef>
              <a:tabLst>
                <a:tab algn="l" pos="2727960"/>
              </a:tabLst>
            </a:pPr>
            <a:r>
              <a:rPr dirty="0" sz="4250" spc="-20"/>
              <a:t>P</a:t>
            </a:r>
            <a:r>
              <a:rPr dirty="0" sz="4250" spc="15"/>
              <a:t>ROB</a:t>
            </a:r>
            <a:r>
              <a:rPr dirty="0" sz="4250" spc="55"/>
              <a:t>L</a:t>
            </a:r>
            <a:r>
              <a:rPr dirty="0" sz="4250" spc="-20"/>
              <a:t>E</a:t>
            </a:r>
            <a:r>
              <a:rPr dirty="0" sz="4250" spc="20"/>
              <a:t>M</a:t>
            </a:r>
            <a:r>
              <a:rPr dirty="0" sz="4250"/>
              <a:t>	</a:t>
            </a:r>
            <a:r>
              <a:rPr dirty="0" sz="4250" spc="10"/>
              <a:t>S</a:t>
            </a:r>
            <a:r>
              <a:rPr dirty="0" sz="4250" spc="-370"/>
              <a:t>T</a:t>
            </a:r>
            <a:r>
              <a:rPr dirty="0" sz="4250" spc="-375"/>
              <a:t>A</a:t>
            </a:r>
            <a:r>
              <a:rPr dirty="0" sz="4250" spc="15"/>
              <a:t>T</a:t>
            </a:r>
            <a:r>
              <a:rPr dirty="0" sz="4250" spc="-10"/>
              <a:t>E</a:t>
            </a:r>
            <a:r>
              <a:rPr dirty="0" sz="4250" spc="-20"/>
              <a:t>ME</a:t>
            </a:r>
            <a:r>
              <a:rPr dirty="0" sz="4250" spc="10"/>
              <a:t>NT</a:t>
            </a:r>
            <a:endParaRPr sz="4250"/>
          </a:p>
        </p:txBody>
      </p:sp>
      <p:pic>
        <p:nvPicPr>
          <p:cNvPr id="2097159"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47" name="object 10"/>
          <p:cNvSpPr txBox="1">
            <a:spLocks noGrp="1"/>
          </p:cNvSpPr>
          <p:nvPr>
            <p:ph type="sldNum" sz="quarter" idx="7"/>
          </p:nvPr>
        </p:nvSpPr>
        <p:spPr>
          <a:xfrm>
            <a:off x="11353418" y="6473337"/>
            <a:ext cx="151129"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pc="10"/>
              <a:t>4</a:t>
            </a:fld>
            <a:endParaRPr dirty="0" spc="10"/>
          </a:p>
        </p:txBody>
      </p:sp>
      <p:sp>
        <p:nvSpPr>
          <p:cNvPr id="1048648" name="Rectangle 8"/>
          <p:cNvSpPr/>
          <p:nvPr/>
        </p:nvSpPr>
        <p:spPr>
          <a:xfrm>
            <a:off x="3048000" y="2967335"/>
            <a:ext cx="6096000" cy="2682240"/>
          </a:xfrm>
          <a:prstGeom prst="rect"/>
        </p:spPr>
        <p:txBody>
          <a:bodyPr>
            <a:spAutoFit/>
          </a:bodyPr>
          <a:p>
            <a:r>
              <a:rPr dirty="0" lang="en-US"/>
              <a:t>In today’s digital era, individuals need an effective way to showcase their skills, achievements, and experiences beyond traditional paper resumes and certificates. Traditional resumes are limited in scope, static in nature, and do not provide space for multimedia elements such as images, videos, project demos, and interactive content. This limitation reduces the ability of an individual to fully demonstrate their capabilities and creativity</a:t>
            </a:r>
            <a:r>
              <a:rPr dirty="0" lang="en-US" smtClean="0"/>
              <a:t>.</a:t>
            </a:r>
          </a:p>
          <a:p>
            <a:r>
              <a:rPr dirty="0" lang="en-US"/>
              <a:t>Therefore, there is a need for a </a:t>
            </a:r>
            <a:r>
              <a:rPr b="1" dirty="0" lang="en-US"/>
              <a:t>digital portfolio system</a:t>
            </a:r>
            <a:r>
              <a:rPr dirty="0" lang="en-US"/>
              <a:t> that allows individuals to create, manage, and showcase their personal and professional information in a modern, interactive, and user-friendly way.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grpSp>
        <p:nvGrpSpPr>
          <p:cNvPr id="34" name="object 2"/>
          <p:cNvGrpSpPr/>
          <p:nvPr/>
        </p:nvGrpSpPr>
        <p:grpSpPr>
          <a:xfrm>
            <a:off x="8658225" y="2647950"/>
            <a:ext cx="3533775" cy="3810000"/>
            <a:chOff x="8658225" y="2647950"/>
            <a:chExt cx="3533775" cy="3810000"/>
          </a:xfrm>
        </p:grpSpPr>
        <p:sp>
          <p:nvSpPr>
            <p:cNvPr id="1048649"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50"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0" name="object 5"/>
            <p:cNvPicPr>
              <a:picLocks/>
            </p:cNvPicPr>
            <p:nvPr/>
          </p:nvPicPr>
          <p:blipFill>
            <a:blip xmlns:r="http://schemas.openxmlformats.org/officeDocument/2006/relationships" r:embed="rId1" cstate="print"/>
            <a:stretch>
              <a:fillRect/>
            </a:stretch>
          </p:blipFill>
          <p:spPr>
            <a:xfrm>
              <a:off x="8658225" y="2647950"/>
              <a:ext cx="3533775" cy="3810000"/>
            </a:xfrm>
            <a:prstGeom prst="rect"/>
          </p:spPr>
        </p:pic>
      </p:grpSp>
      <p:sp>
        <p:nvSpPr>
          <p:cNvPr id="1048651"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52" name="object 7"/>
          <p:cNvSpPr txBox="1">
            <a:spLocks noGrp="1"/>
          </p:cNvSpPr>
          <p:nvPr>
            <p:ph type="title"/>
          </p:nvPr>
        </p:nvSpPr>
        <p:spPr>
          <a:xfrm>
            <a:off x="739775" y="829627"/>
            <a:ext cx="5263515" cy="549911"/>
          </a:xfrm>
          <a:prstGeom prst="rect"/>
        </p:spPr>
        <p:txBody>
          <a:bodyPr bIns="0" lIns="0" rIns="0" rtlCol="0" tIns="16510" vert="horz" wrap="square">
            <a:spAutoFit/>
          </a:bodyPr>
          <a:p>
            <a:pPr marL="12700">
              <a:lnSpc>
                <a:spcPct val="100000"/>
              </a:lnSpc>
              <a:spcBef>
                <a:spcPts val="130"/>
              </a:spcBef>
              <a:tabLst>
                <a:tab algn="l" pos="2642870"/>
              </a:tabLst>
            </a:pPr>
            <a:r>
              <a:rPr dirty="0" sz="4250" spc="5"/>
              <a:t>PROJECT	</a:t>
            </a:r>
            <a:r>
              <a:rPr dirty="0" sz="4250" spc="-20"/>
              <a:t>OVERVIEW</a:t>
            </a:r>
            <a:endParaRPr sz="4250"/>
          </a:p>
        </p:txBody>
      </p:sp>
      <p:pic>
        <p:nvPicPr>
          <p:cNvPr id="2097161"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53" name="object 10"/>
          <p:cNvSpPr txBox="1">
            <a:spLocks noGrp="1"/>
          </p:cNvSpPr>
          <p:nvPr>
            <p:ph type="sldNum" sz="quarter" idx="7"/>
          </p:nvPr>
        </p:nvSpPr>
        <p:spPr>
          <a:xfrm>
            <a:off x="11353418" y="6473337"/>
            <a:ext cx="151129"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pc="10"/>
              <a:t>5</a:t>
            </a:fld>
            <a:endParaRPr dirty="0" spc="10"/>
          </a:p>
        </p:txBody>
      </p:sp>
      <p:sp>
        <p:nvSpPr>
          <p:cNvPr id="1048654" name="Rectangle 8"/>
          <p:cNvSpPr/>
          <p:nvPr/>
        </p:nvSpPr>
        <p:spPr>
          <a:xfrm>
            <a:off x="3048000" y="2551837"/>
            <a:ext cx="6096000" cy="1602741"/>
          </a:xfrm>
          <a:prstGeom prst="rect"/>
        </p:spPr>
        <p:txBody>
          <a:bodyPr>
            <a:spAutoFit/>
          </a:bodyPr>
          <a:p>
            <a:r>
              <a:rPr dirty="0" lang="en-US">
                <a:latin typeface="Times New Roman" panose="02020603050405020304" pitchFamily="18" charset="0"/>
                <a:cs typeface="Times New Roman" panose="02020603050405020304" pitchFamily="18" charset="0"/>
              </a:rPr>
              <a:t>The </a:t>
            </a:r>
            <a:r>
              <a:rPr b="1" dirty="0" lang="en-US">
                <a:latin typeface="Times New Roman" panose="02020603050405020304" pitchFamily="18" charset="0"/>
                <a:cs typeface="Times New Roman" panose="02020603050405020304" pitchFamily="18" charset="0"/>
              </a:rPr>
              <a:t>Digital Portfolio Project</a:t>
            </a:r>
            <a:r>
              <a:rPr dirty="0" lang="en-US">
                <a:latin typeface="Times New Roman" panose="02020603050405020304" pitchFamily="18" charset="0"/>
                <a:cs typeface="Times New Roman" panose="02020603050405020304" pitchFamily="18" charset="0"/>
              </a:rPr>
              <a:t> provides a modern platform for individuals to showcase their skills, achievements, and projects online. It replaces traditional resumes with an interactive, multimedia-based profile that is accessible anytime, anywhere. The system is user-friendly, visually appealing, and helps improve personal branding and career opportunities.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655" name="object 2"/>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56" name="object 3"/>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57"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58" name="object 5"/>
          <p:cNvSpPr txBox="1">
            <a:spLocks noGrp="1"/>
          </p:cNvSpPr>
          <p:nvPr>
            <p:ph type="title"/>
          </p:nvPr>
        </p:nvSpPr>
        <p:spPr>
          <a:xfrm>
            <a:off x="699452" y="891793"/>
            <a:ext cx="5014595" cy="422910"/>
          </a:xfrm>
          <a:prstGeom prst="rect"/>
        </p:spPr>
        <p:txBody>
          <a:bodyPr bIns="0" lIns="0" rIns="0" rtlCol="0" tIns="16510" vert="horz" wrap="square">
            <a:spAutoFit/>
          </a:bodyPr>
          <a:p>
            <a:pPr marL="12700">
              <a:lnSpc>
                <a:spcPct val="100000"/>
              </a:lnSpc>
              <a:spcBef>
                <a:spcPts val="130"/>
              </a:spcBef>
            </a:pPr>
            <a:r>
              <a:rPr dirty="0" sz="3200" spc="25"/>
              <a:t>W</a:t>
            </a:r>
            <a:r>
              <a:rPr dirty="0" sz="3200" spc="-20"/>
              <a:t>H</a:t>
            </a:r>
            <a:r>
              <a:rPr dirty="0" sz="3200" spc="20"/>
              <a:t>O</a:t>
            </a:r>
            <a:r>
              <a:rPr dirty="0" sz="3200" spc="-235"/>
              <a:t> </a:t>
            </a:r>
            <a:r>
              <a:rPr dirty="0" sz="3200" spc="-10"/>
              <a:t>AR</a:t>
            </a:r>
            <a:r>
              <a:rPr dirty="0" sz="3200" spc="15"/>
              <a:t>E</a:t>
            </a:r>
            <a:r>
              <a:rPr dirty="0" sz="3200" spc="-35"/>
              <a:t> </a:t>
            </a:r>
            <a:r>
              <a:rPr dirty="0" sz="3200" spc="-10"/>
              <a:t>T</a:t>
            </a:r>
            <a:r>
              <a:rPr dirty="0" sz="3200" spc="-15"/>
              <a:t>H</a:t>
            </a:r>
            <a:r>
              <a:rPr dirty="0" sz="3200" spc="15"/>
              <a:t>E</a:t>
            </a:r>
            <a:r>
              <a:rPr dirty="0" sz="3200" spc="-35"/>
              <a:t> </a:t>
            </a:r>
            <a:r>
              <a:rPr dirty="0" sz="3200" spc="-20"/>
              <a:t>E</a:t>
            </a:r>
            <a:r>
              <a:rPr dirty="0" sz="3200" spc="30"/>
              <a:t>N</a:t>
            </a:r>
            <a:r>
              <a:rPr dirty="0" sz="3200" spc="15"/>
              <a:t>D</a:t>
            </a:r>
            <a:r>
              <a:rPr dirty="0" sz="3200" spc="-45"/>
              <a:t> </a:t>
            </a:r>
            <a:r>
              <a:rPr dirty="0" sz="3200"/>
              <a:t>U</a:t>
            </a:r>
            <a:r>
              <a:rPr dirty="0" sz="3200" spc="10"/>
              <a:t>S</a:t>
            </a:r>
            <a:r>
              <a:rPr dirty="0" sz="3200" spc="-25"/>
              <a:t>E</a:t>
            </a:r>
            <a:r>
              <a:rPr dirty="0" sz="3200" spc="-10"/>
              <a:t>R</a:t>
            </a:r>
            <a:r>
              <a:rPr dirty="0" sz="3200" spc="5"/>
              <a:t>S?</a:t>
            </a:r>
            <a:endParaRPr sz="3200"/>
          </a:p>
        </p:txBody>
      </p:sp>
      <p:pic>
        <p:nvPicPr>
          <p:cNvPr id="2097162" name="object 6"/>
          <p:cNvPicPr>
            <a:picLocks/>
          </p:cNvPicPr>
          <p:nvPr/>
        </p:nvPicPr>
        <p:blipFill>
          <a:blip xmlns:r="http://schemas.openxmlformats.org/officeDocument/2006/relationships" r:embed="rId1" cstate="print"/>
          <a:stretch>
            <a:fillRect/>
          </a:stretch>
        </p:blipFill>
        <p:spPr>
          <a:xfrm>
            <a:off x="723900" y="6172200"/>
            <a:ext cx="2181225" cy="485775"/>
          </a:xfrm>
          <a:prstGeom prst="rect"/>
        </p:spPr>
      </p:pic>
      <p:sp>
        <p:nvSpPr>
          <p:cNvPr id="1048659" name="object 8"/>
          <p:cNvSpPr txBox="1">
            <a:spLocks noGrp="1"/>
          </p:cNvSpPr>
          <p:nvPr>
            <p:ph type="sldNum" sz="quarter" idx="7"/>
          </p:nvPr>
        </p:nvSpPr>
        <p:spPr>
          <a:xfrm>
            <a:off x="11353418" y="6473337"/>
            <a:ext cx="151129"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pc="10"/>
              <a:t>6</a:t>
            </a:fld>
            <a:endParaRPr dirty="0" spc="10"/>
          </a:p>
        </p:txBody>
      </p:sp>
      <p:sp>
        <p:nvSpPr>
          <p:cNvPr id="1048660" name="Rectangle 6"/>
          <p:cNvSpPr/>
          <p:nvPr/>
        </p:nvSpPr>
        <p:spPr>
          <a:xfrm>
            <a:off x="3048000" y="1859340"/>
            <a:ext cx="6096000" cy="2466340"/>
          </a:xfrm>
          <a:prstGeom prst="rect"/>
        </p:spPr>
        <p:txBody>
          <a:bodyPr>
            <a:spAutoFit/>
          </a:bodyPr>
          <a:p>
            <a:r>
              <a:rPr dirty="0" lang="en-US">
                <a:latin typeface="Times New Roman" panose="02020603050405020304" pitchFamily="18" charset="0"/>
                <a:cs typeface="Times New Roman" panose="02020603050405020304" pitchFamily="18" charset="0"/>
              </a:rPr>
              <a:t>The </a:t>
            </a:r>
            <a:r>
              <a:rPr b="1" dirty="0" lang="en-US">
                <a:latin typeface="Times New Roman" panose="02020603050405020304" pitchFamily="18" charset="0"/>
                <a:cs typeface="Times New Roman" panose="02020603050405020304" pitchFamily="18" charset="0"/>
              </a:rPr>
              <a:t>end users of a digital portfolio</a:t>
            </a:r>
            <a:r>
              <a:rPr dirty="0" lang="en-US">
                <a:latin typeface="Times New Roman" panose="02020603050405020304" pitchFamily="18" charset="0"/>
                <a:cs typeface="Times New Roman" panose="02020603050405020304" pitchFamily="18" charset="0"/>
              </a:rPr>
              <a:t> are mainly:</a:t>
            </a:r>
          </a:p>
          <a:p>
            <a:pPr>
              <a:buFont typeface="+mj-lt"/>
              <a:buAutoNum type="arabicPeriod"/>
            </a:pPr>
            <a:r>
              <a:rPr b="1" dirty="0" lang="en-US">
                <a:latin typeface="Times New Roman" panose="02020603050405020304" pitchFamily="18" charset="0"/>
                <a:cs typeface="Times New Roman" panose="02020603050405020304" pitchFamily="18" charset="0"/>
              </a:rPr>
              <a:t>Students</a:t>
            </a:r>
            <a:r>
              <a:rPr dirty="0" lang="en-US">
                <a:latin typeface="Times New Roman" panose="02020603050405020304" pitchFamily="18" charset="0"/>
                <a:cs typeface="Times New Roman" panose="02020603050405020304" pitchFamily="18" charset="0"/>
              </a:rPr>
              <a:t> – to showcase academic achievements, projects, and skills.</a:t>
            </a:r>
          </a:p>
          <a:p>
            <a:pPr>
              <a:buFont typeface="+mj-lt"/>
              <a:buAutoNum type="arabicPeriod"/>
            </a:pPr>
            <a:r>
              <a:rPr b="1" dirty="0" lang="en-US">
                <a:latin typeface="Times New Roman" panose="02020603050405020304" pitchFamily="18" charset="0"/>
                <a:cs typeface="Times New Roman" panose="02020603050405020304" pitchFamily="18" charset="0"/>
              </a:rPr>
              <a:t>Job Seekers/Professionals</a:t>
            </a:r>
            <a:r>
              <a:rPr dirty="0" lang="en-US">
                <a:latin typeface="Times New Roman" panose="02020603050405020304" pitchFamily="18" charset="0"/>
                <a:cs typeface="Times New Roman" panose="02020603050405020304" pitchFamily="18" charset="0"/>
              </a:rPr>
              <a:t> – to highlight experience, certifications, and career achievements.</a:t>
            </a:r>
          </a:p>
          <a:p>
            <a:pPr>
              <a:buFont typeface="+mj-lt"/>
              <a:buAutoNum type="arabicPeriod"/>
            </a:pPr>
            <a:r>
              <a:rPr b="1" dirty="0" lang="en-US">
                <a:latin typeface="Times New Roman" panose="02020603050405020304" pitchFamily="18" charset="0"/>
                <a:cs typeface="Times New Roman" panose="02020603050405020304" pitchFamily="18" charset="0"/>
              </a:rPr>
              <a:t>Freelancers/Creators</a:t>
            </a:r>
            <a:r>
              <a:rPr dirty="0" lang="en-US">
                <a:latin typeface="Times New Roman" panose="02020603050405020304" pitchFamily="18" charset="0"/>
                <a:cs typeface="Times New Roman" panose="02020603050405020304" pitchFamily="18" charset="0"/>
              </a:rPr>
              <a:t> – to present creative works, designs, or services to potential clients.</a:t>
            </a:r>
          </a:p>
          <a:p>
            <a:pPr>
              <a:buFont typeface="+mj-lt"/>
              <a:buAutoNum type="arabicPeriod"/>
            </a:pPr>
            <a:r>
              <a:rPr b="1" dirty="0" lang="en-US">
                <a:latin typeface="Times New Roman" panose="02020603050405020304" pitchFamily="18" charset="0"/>
                <a:cs typeface="Times New Roman" panose="02020603050405020304" pitchFamily="18" charset="0"/>
              </a:rPr>
              <a:t>Educators/Researchers</a:t>
            </a:r>
            <a:r>
              <a:rPr dirty="0" lang="en-US">
                <a:latin typeface="Times New Roman" panose="02020603050405020304" pitchFamily="18" charset="0"/>
                <a:cs typeface="Times New Roman" panose="02020603050405020304" pitchFamily="18" charset="0"/>
              </a:rPr>
              <a:t> – to display publications, teaching work, and research contributions.</a:t>
            </a:r>
          </a:p>
          <a:p>
            <a:pPr>
              <a:buFont typeface="+mj-lt"/>
              <a:buAutoNum type="arabicPeriod"/>
            </a:pPr>
            <a:r>
              <a:rPr b="1" dirty="0" lang="en-US">
                <a:latin typeface="Times New Roman" panose="02020603050405020304" pitchFamily="18" charset="0"/>
                <a:cs typeface="Times New Roman" panose="02020603050405020304" pitchFamily="18" charset="0"/>
              </a:rPr>
              <a:t>Employers/Recruiters</a:t>
            </a:r>
            <a:r>
              <a:rPr dirty="0" lang="en-US">
                <a:latin typeface="Times New Roman" panose="02020603050405020304" pitchFamily="18" charset="0"/>
                <a:cs typeface="Times New Roman" panose="02020603050405020304" pitchFamily="18" charset="0"/>
              </a:rPr>
              <a:t> – as viewers who assess candidates’ skills and suitability.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pic>
        <p:nvPicPr>
          <p:cNvPr id="2097163" name="object 2"/>
          <p:cNvPicPr>
            <a:picLocks/>
          </p:cNvPicPr>
          <p:nvPr/>
        </p:nvPicPr>
        <p:blipFill>
          <a:blip xmlns:r="http://schemas.openxmlformats.org/officeDocument/2006/relationships" r:embed="rId1" cstate="print"/>
          <a:stretch>
            <a:fillRect/>
          </a:stretch>
        </p:blipFill>
        <p:spPr>
          <a:xfrm>
            <a:off x="0" y="1476375"/>
            <a:ext cx="2695574" cy="3248025"/>
          </a:xfrm>
          <a:prstGeom prst="rect"/>
        </p:spPr>
      </p:pic>
      <p:sp>
        <p:nvSpPr>
          <p:cNvPr id="1048661"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62"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63"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64" name="object 6"/>
          <p:cNvSpPr txBox="1">
            <a:spLocks noGrp="1"/>
          </p:cNvSpPr>
          <p:nvPr>
            <p:ph type="title"/>
          </p:nvPr>
        </p:nvSpPr>
        <p:spPr>
          <a:xfrm>
            <a:off x="558165" y="857885"/>
            <a:ext cx="9763125" cy="470536"/>
          </a:xfrm>
          <a:prstGeom prst="rect"/>
        </p:spPr>
        <p:txBody>
          <a:bodyPr bIns="0" lIns="0" rIns="0" rtlCol="0" tIns="13335" vert="horz" wrap="square">
            <a:spAutoFit/>
          </a:bodyPr>
          <a:p>
            <a:pPr marL="12700">
              <a:lnSpc>
                <a:spcPct val="100000"/>
              </a:lnSpc>
              <a:spcBef>
                <a:spcPts val="105"/>
              </a:spcBef>
            </a:pPr>
            <a:r>
              <a:rPr dirty="0" sz="3600" lang="en-IN" spc="10"/>
              <a:t>TOOLS AND TECHNIQUES</a:t>
            </a:r>
            <a:endParaRPr dirty="0" sz="3600"/>
          </a:p>
        </p:txBody>
      </p:sp>
      <p:pic>
        <p:nvPicPr>
          <p:cNvPr id="2097164" name="object 7"/>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65" name="object 9"/>
          <p:cNvSpPr txBox="1">
            <a:spLocks noGrp="1"/>
          </p:cNvSpPr>
          <p:nvPr>
            <p:ph type="sldNum" sz="quarter" idx="7"/>
          </p:nvPr>
        </p:nvSpPr>
        <p:spPr>
          <a:xfrm>
            <a:off x="11353418" y="6473337"/>
            <a:ext cx="151129"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pc="10"/>
              <a:t>7</a:t>
            </a:fld>
            <a:endParaRPr dirty="0" spc="10"/>
          </a:p>
        </p:txBody>
      </p:sp>
      <p:sp>
        <p:nvSpPr>
          <p:cNvPr id="1048666" name="Rectangle 7"/>
          <p:cNvSpPr/>
          <p:nvPr/>
        </p:nvSpPr>
        <p:spPr>
          <a:xfrm>
            <a:off x="3048000" y="1813173"/>
            <a:ext cx="6096000" cy="2682241"/>
          </a:xfrm>
          <a:prstGeom prst="rect"/>
        </p:spPr>
        <p:txBody>
          <a:bodyPr>
            <a:spAutoFit/>
          </a:bodyPr>
          <a:p>
            <a:r>
              <a:rPr b="1" dirty="0" sz="1200" lang="en-US">
                <a:latin typeface="Times New Roman" panose="02020603050405020304" pitchFamily="18" charset="0"/>
                <a:cs typeface="Times New Roman" panose="02020603050405020304" pitchFamily="18" charset="0"/>
              </a:rPr>
              <a:t>Tools</a:t>
            </a:r>
          </a:p>
          <a:p>
            <a:pPr>
              <a:buFont typeface="+mj-lt"/>
              <a:buAutoNum type="arabicPeriod"/>
            </a:pPr>
            <a:r>
              <a:rPr b="1" dirty="0" sz="1200" lang="en-US">
                <a:latin typeface="Times New Roman" panose="02020603050405020304" pitchFamily="18" charset="0"/>
                <a:cs typeface="Times New Roman" panose="02020603050405020304" pitchFamily="18" charset="0"/>
              </a:rPr>
              <a:t>Web Development Tools</a:t>
            </a:r>
            <a:r>
              <a:rPr dirty="0" sz="1200" lang="en-US">
                <a:latin typeface="Times New Roman" panose="02020603050405020304" pitchFamily="18" charset="0"/>
                <a:cs typeface="Times New Roman" panose="02020603050405020304" pitchFamily="18" charset="0"/>
              </a:rPr>
              <a:t> – HTML, CSS, JavaScript for creating and styling the portfolio.</a:t>
            </a:r>
          </a:p>
          <a:p>
            <a:pPr>
              <a:buFont typeface="+mj-lt"/>
              <a:buAutoNum type="arabicPeriod"/>
            </a:pPr>
            <a:r>
              <a:rPr b="1" dirty="0" sz="1200" lang="en-US">
                <a:latin typeface="Times New Roman" panose="02020603050405020304" pitchFamily="18" charset="0"/>
                <a:cs typeface="Times New Roman" panose="02020603050405020304" pitchFamily="18" charset="0"/>
              </a:rPr>
              <a:t>Content Management Systems (CMS)</a:t>
            </a:r>
            <a:r>
              <a:rPr dirty="0" sz="1200" lang="en-US">
                <a:latin typeface="Times New Roman" panose="02020603050405020304" pitchFamily="18" charset="0"/>
                <a:cs typeface="Times New Roman" panose="02020603050405020304" pitchFamily="18" charset="0"/>
              </a:rPr>
              <a:t> – </a:t>
            </a:r>
            <a:r>
              <a:rPr dirty="0" sz="1200" lang="en-US" err="1">
                <a:latin typeface="Times New Roman" panose="02020603050405020304" pitchFamily="18" charset="0"/>
                <a:cs typeface="Times New Roman" panose="02020603050405020304" pitchFamily="18" charset="0"/>
              </a:rPr>
              <a:t>WordPress</a:t>
            </a:r>
            <a:r>
              <a:rPr dirty="0" sz="1200" lang="en-US">
                <a:latin typeface="Times New Roman" panose="02020603050405020304" pitchFamily="18" charset="0"/>
                <a:cs typeface="Times New Roman" panose="02020603050405020304" pitchFamily="18" charset="0"/>
              </a:rPr>
              <a:t>, </a:t>
            </a:r>
            <a:r>
              <a:rPr dirty="0" sz="1200" lang="en-US" err="1">
                <a:latin typeface="Times New Roman" panose="02020603050405020304" pitchFamily="18" charset="0"/>
                <a:cs typeface="Times New Roman" panose="02020603050405020304" pitchFamily="18" charset="0"/>
              </a:rPr>
              <a:t>Wix</a:t>
            </a:r>
            <a:r>
              <a:rPr dirty="0" sz="1200" lang="en-US">
                <a:latin typeface="Times New Roman" panose="02020603050405020304" pitchFamily="18" charset="0"/>
                <a:cs typeface="Times New Roman" panose="02020603050405020304" pitchFamily="18" charset="0"/>
              </a:rPr>
              <a:t>, or Google Sites for easy portfolio creation.</a:t>
            </a:r>
          </a:p>
          <a:p>
            <a:pPr>
              <a:buFont typeface="+mj-lt"/>
              <a:buAutoNum type="arabicPeriod"/>
            </a:pPr>
            <a:r>
              <a:rPr b="1" dirty="0" sz="1200" lang="en-US">
                <a:latin typeface="Times New Roman" panose="02020603050405020304" pitchFamily="18" charset="0"/>
                <a:cs typeface="Times New Roman" panose="02020603050405020304" pitchFamily="18" charset="0"/>
              </a:rPr>
              <a:t>Design Tools</a:t>
            </a:r>
            <a:r>
              <a:rPr dirty="0" sz="1200" lang="en-US">
                <a:latin typeface="Times New Roman" panose="02020603050405020304" pitchFamily="18" charset="0"/>
                <a:cs typeface="Times New Roman" panose="02020603050405020304" pitchFamily="18" charset="0"/>
              </a:rPr>
              <a:t> – </a:t>
            </a:r>
            <a:r>
              <a:rPr dirty="0" sz="1200" lang="en-US" err="1">
                <a:latin typeface="Times New Roman" panose="02020603050405020304" pitchFamily="18" charset="0"/>
                <a:cs typeface="Times New Roman" panose="02020603050405020304" pitchFamily="18" charset="0"/>
              </a:rPr>
              <a:t>Canva</a:t>
            </a:r>
            <a:r>
              <a:rPr dirty="0" sz="1200" lang="en-US">
                <a:latin typeface="Times New Roman" panose="02020603050405020304" pitchFamily="18" charset="0"/>
                <a:cs typeface="Times New Roman" panose="02020603050405020304" pitchFamily="18" charset="0"/>
              </a:rPr>
              <a:t>, </a:t>
            </a:r>
            <a:r>
              <a:rPr dirty="0" sz="1200" lang="en-US" err="1">
                <a:latin typeface="Times New Roman" panose="02020603050405020304" pitchFamily="18" charset="0"/>
                <a:cs typeface="Times New Roman" panose="02020603050405020304" pitchFamily="18" charset="0"/>
              </a:rPr>
              <a:t>Figma</a:t>
            </a:r>
            <a:r>
              <a:rPr dirty="0" sz="1200" lang="en-US">
                <a:latin typeface="Times New Roman" panose="02020603050405020304" pitchFamily="18" charset="0"/>
                <a:cs typeface="Times New Roman" panose="02020603050405020304" pitchFamily="18" charset="0"/>
              </a:rPr>
              <a:t>, Adobe XD, Photoshop for graphics and layout.</a:t>
            </a:r>
          </a:p>
          <a:p>
            <a:pPr>
              <a:buFont typeface="+mj-lt"/>
              <a:buAutoNum type="arabicPeriod"/>
            </a:pPr>
            <a:r>
              <a:rPr b="1" dirty="0" sz="1200" lang="en-US">
                <a:latin typeface="Times New Roman" panose="02020603050405020304" pitchFamily="18" charset="0"/>
                <a:cs typeface="Times New Roman" panose="02020603050405020304" pitchFamily="18" charset="0"/>
              </a:rPr>
              <a:t>Code Editors</a:t>
            </a:r>
            <a:r>
              <a:rPr dirty="0" sz="1200" lang="en-US">
                <a:latin typeface="Times New Roman" panose="02020603050405020304" pitchFamily="18" charset="0"/>
                <a:cs typeface="Times New Roman" panose="02020603050405020304" pitchFamily="18" charset="0"/>
              </a:rPr>
              <a:t> – Visual Studio Code, Sublime Text for coding and customization.</a:t>
            </a:r>
          </a:p>
          <a:p>
            <a:pPr>
              <a:buFont typeface="+mj-lt"/>
              <a:buAutoNum type="arabicPeriod"/>
            </a:pPr>
            <a:r>
              <a:rPr b="1" dirty="0" sz="1200" lang="en-US">
                <a:latin typeface="Times New Roman" panose="02020603050405020304" pitchFamily="18" charset="0"/>
                <a:cs typeface="Times New Roman" panose="02020603050405020304" pitchFamily="18" charset="0"/>
              </a:rPr>
              <a:t>Hosting Platforms</a:t>
            </a:r>
            <a:r>
              <a:rPr dirty="0" sz="1200" lang="en-US">
                <a:latin typeface="Times New Roman" panose="02020603050405020304" pitchFamily="18" charset="0"/>
                <a:cs typeface="Times New Roman" panose="02020603050405020304" pitchFamily="18" charset="0"/>
              </a:rPr>
              <a:t> – </a:t>
            </a:r>
            <a:r>
              <a:rPr dirty="0" sz="1200" lang="en-US" err="1">
                <a:latin typeface="Times New Roman" panose="02020603050405020304" pitchFamily="18" charset="0"/>
                <a:cs typeface="Times New Roman" panose="02020603050405020304" pitchFamily="18" charset="0"/>
              </a:rPr>
              <a:t>GitHub</a:t>
            </a:r>
            <a:r>
              <a:rPr dirty="0" sz="1200" lang="en-US">
                <a:latin typeface="Times New Roman" panose="02020603050405020304" pitchFamily="18" charset="0"/>
                <a:cs typeface="Times New Roman" panose="02020603050405020304" pitchFamily="18" charset="0"/>
              </a:rPr>
              <a:t> Pages, </a:t>
            </a:r>
            <a:r>
              <a:rPr dirty="0" sz="1200" lang="en-US" err="1">
                <a:latin typeface="Times New Roman" panose="02020603050405020304" pitchFamily="18" charset="0"/>
                <a:cs typeface="Times New Roman" panose="02020603050405020304" pitchFamily="18" charset="0"/>
              </a:rPr>
              <a:t>Netlify</a:t>
            </a:r>
            <a:r>
              <a:rPr dirty="0" sz="1200" lang="en-US">
                <a:latin typeface="Times New Roman" panose="02020603050405020304" pitchFamily="18" charset="0"/>
                <a:cs typeface="Times New Roman" panose="02020603050405020304" pitchFamily="18" charset="0"/>
              </a:rPr>
              <a:t>, or personal domain hosting to publish the portfolio.</a:t>
            </a:r>
          </a:p>
          <a:p>
            <a:r>
              <a:rPr b="1" dirty="0" sz="1200" lang="en-US">
                <a:latin typeface="Times New Roman" panose="02020603050405020304" pitchFamily="18" charset="0"/>
                <a:cs typeface="Times New Roman" panose="02020603050405020304" pitchFamily="18" charset="0"/>
              </a:rPr>
              <a:t>Techniques</a:t>
            </a:r>
          </a:p>
          <a:p>
            <a:pPr>
              <a:buFont typeface="+mj-lt"/>
              <a:buAutoNum type="arabicPeriod"/>
            </a:pPr>
            <a:r>
              <a:rPr b="1" dirty="0" sz="1200" lang="en-US">
                <a:latin typeface="Times New Roman" panose="02020603050405020304" pitchFamily="18" charset="0"/>
                <a:cs typeface="Times New Roman" panose="02020603050405020304" pitchFamily="18" charset="0"/>
              </a:rPr>
              <a:t>Responsive Web Design</a:t>
            </a:r>
            <a:r>
              <a:rPr dirty="0" sz="1200" lang="en-US">
                <a:latin typeface="Times New Roman" panose="02020603050405020304" pitchFamily="18" charset="0"/>
                <a:cs typeface="Times New Roman" panose="02020603050405020304" pitchFamily="18" charset="0"/>
              </a:rPr>
              <a:t> – ensuring the portfolio works on all devices (desktop, tablet, mobile).</a:t>
            </a:r>
          </a:p>
          <a:p>
            <a:pPr>
              <a:buFont typeface="+mj-lt"/>
              <a:buAutoNum type="arabicPeriod"/>
            </a:pPr>
            <a:r>
              <a:rPr b="1" dirty="0" sz="1200" lang="en-US">
                <a:latin typeface="Times New Roman" panose="02020603050405020304" pitchFamily="18" charset="0"/>
                <a:cs typeface="Times New Roman" panose="02020603050405020304" pitchFamily="18" charset="0"/>
              </a:rPr>
              <a:t>UI/UX Design Principles</a:t>
            </a:r>
            <a:r>
              <a:rPr dirty="0" sz="1200" lang="en-US">
                <a:latin typeface="Times New Roman" panose="02020603050405020304" pitchFamily="18" charset="0"/>
                <a:cs typeface="Times New Roman" panose="02020603050405020304" pitchFamily="18" charset="0"/>
              </a:rPr>
              <a:t> – making the portfolio attractive and user-friendly.</a:t>
            </a:r>
          </a:p>
          <a:p>
            <a:pPr>
              <a:buFont typeface="+mj-lt"/>
              <a:buAutoNum type="arabicPeriod"/>
            </a:pPr>
            <a:r>
              <a:rPr b="1" dirty="0" sz="1200" lang="en-US">
                <a:latin typeface="Times New Roman" panose="02020603050405020304" pitchFamily="18" charset="0"/>
                <a:cs typeface="Times New Roman" panose="02020603050405020304" pitchFamily="18" charset="0"/>
              </a:rPr>
              <a:t>Multimedia Integration</a:t>
            </a:r>
            <a:r>
              <a:rPr dirty="0" sz="1200" lang="en-US">
                <a:latin typeface="Times New Roman" panose="02020603050405020304" pitchFamily="18" charset="0"/>
                <a:cs typeface="Times New Roman" panose="02020603050405020304" pitchFamily="18" charset="0"/>
              </a:rPr>
              <a:t> – adding images, videos, project demos, and links.</a:t>
            </a:r>
          </a:p>
          <a:p>
            <a:pPr>
              <a:buFont typeface="+mj-lt"/>
              <a:buAutoNum type="arabicPeriod"/>
            </a:pPr>
            <a:r>
              <a:rPr b="1" dirty="0" sz="1200" lang="en-US">
                <a:latin typeface="Times New Roman" panose="02020603050405020304" pitchFamily="18" charset="0"/>
                <a:cs typeface="Times New Roman" panose="02020603050405020304" pitchFamily="18" charset="0"/>
              </a:rPr>
              <a:t>Interactive Elements</a:t>
            </a:r>
            <a:r>
              <a:rPr dirty="0" sz="1200" lang="en-US">
                <a:latin typeface="Times New Roman" panose="02020603050405020304" pitchFamily="18" charset="0"/>
                <a:cs typeface="Times New Roman" panose="02020603050405020304" pitchFamily="18" charset="0"/>
              </a:rPr>
              <a:t> – using animations, hover effects, or navigation menus for better engagement.</a:t>
            </a:r>
          </a:p>
          <a:p>
            <a:pPr>
              <a:buFont typeface="+mj-lt"/>
              <a:buAutoNum type="arabicPeriod"/>
            </a:pPr>
            <a:r>
              <a:rPr b="1" dirty="0" sz="1200" lang="en-US">
                <a:latin typeface="Times New Roman" panose="02020603050405020304" pitchFamily="18" charset="0"/>
                <a:cs typeface="Times New Roman" panose="02020603050405020304" pitchFamily="18" charset="0"/>
              </a:rPr>
              <a:t>Search Engine Optimization (SEO)</a:t>
            </a:r>
            <a:r>
              <a:rPr dirty="0" sz="1200" lang="en-US">
                <a:latin typeface="Times New Roman" panose="02020603050405020304" pitchFamily="18" charset="0"/>
                <a:cs typeface="Times New Roman" panose="02020603050405020304" pitchFamily="18" charset="0"/>
              </a:rPr>
              <a:t> – improving visibility so that the portfolio can be easily found online.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67"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5"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668" name="object 9"/>
          <p:cNvSpPr txBox="1"/>
          <p:nvPr/>
        </p:nvSpPr>
        <p:spPr>
          <a:xfrm>
            <a:off x="11277218" y="6473337"/>
            <a:ext cx="228600"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8</a:t>
            </a:fld>
            <a:endParaRPr sz="1100">
              <a:latin typeface="Trebuchet MS"/>
              <a:cs typeface="Trebuchet MS"/>
            </a:endParaRPr>
          </a:p>
        </p:txBody>
      </p:sp>
      <p:sp>
        <p:nvSpPr>
          <p:cNvPr id="1048669" name="object 8"/>
          <p:cNvSpPr txBox="1"/>
          <p:nvPr/>
        </p:nvSpPr>
        <p:spPr>
          <a:xfrm>
            <a:off x="739775" y="291147"/>
            <a:ext cx="8794750" cy="508635"/>
          </a:xfrm>
          <a:prstGeom prst="rect"/>
        </p:spPr>
        <p:txBody>
          <a:bodyPr bIns="0" lIns="0" rIns="0" rtlCol="0" tIns="13335" vert="horz" wrap="square">
            <a:spAutoFit/>
          </a:bodyPr>
          <a:p>
            <a:pPr marL="12700">
              <a:lnSpc>
                <a:spcPct val="100000"/>
              </a:lnSpc>
              <a:spcBef>
                <a:spcPts val="105"/>
              </a:spcBef>
            </a:pPr>
            <a:r>
              <a:rPr b="1" dirty="0" sz="4000" lang="en-IN" spc="15">
                <a:latin typeface="Trebuchet MS"/>
                <a:cs typeface="Trebuchet MS"/>
              </a:rPr>
              <a:t>POTFOLIO DESIGN AND LAYOUT</a:t>
            </a:r>
            <a:endParaRPr dirty="0" sz="4000">
              <a:latin typeface="Trebuchet MS"/>
              <a:cs typeface="Trebuchet MS"/>
            </a:endParaRPr>
          </a:p>
        </p:txBody>
      </p:sp>
      <p:sp>
        <p:nvSpPr>
          <p:cNvPr id="1048670" name="object 3"/>
          <p:cNvSpPr/>
          <p:nvPr/>
        </p:nvSpPr>
        <p:spPr>
          <a:xfrm>
            <a:off x="10058400" y="525141"/>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71" name=""/>
          <p:cNvSpPr txBox="1"/>
          <p:nvPr/>
        </p:nvSpPr>
        <p:spPr>
          <a:xfrm>
            <a:off x="739775" y="1973579"/>
            <a:ext cx="7891160" cy="2148841"/>
          </a:xfrm>
          <a:prstGeom prst="rect"/>
        </p:spPr>
        <p:txBody>
          <a:bodyPr rtlCol="0" wrap="square">
            <a:spAutoFit/>
          </a:bodyPr>
          <a:p>
            <a:r>
              <a:rPr sz="2800" lang="en-US">
                <a:solidFill>
                  <a:srgbClr val="000000"/>
                </a:solidFill>
              </a:rPr>
              <a:t>1. Header – Name, role, and tagline.</a:t>
            </a:r>
            <a:endParaRPr sz="2800" lang="en-IN">
              <a:solidFill>
                <a:srgbClr val="000000"/>
              </a:solidFill>
            </a:endParaRPr>
          </a:p>
          <a:p>
            <a:r>
              <a:rPr sz="2800" lang="en-US">
                <a:solidFill>
                  <a:srgbClr val="000000"/>
                </a:solidFill>
              </a:rPr>
              <a:t>2. About – Short intro about yourself.</a:t>
            </a:r>
            <a:endParaRPr sz="2800" lang="en-IN">
              <a:solidFill>
                <a:srgbClr val="000000"/>
              </a:solidFill>
            </a:endParaRPr>
          </a:p>
          <a:p>
            <a:r>
              <a:rPr sz="2800" lang="en-US">
                <a:solidFill>
                  <a:srgbClr val="000000"/>
                </a:solidFill>
              </a:rPr>
              <a:t>3. Projects – Showcase best work with images &amp; brief notes.</a:t>
            </a:r>
            <a:endParaRPr sz="2800" lang="en-IN">
              <a:solidFill>
                <a:srgbClr val="000000"/>
              </a:solidFill>
            </a:endParaRPr>
          </a:p>
          <a:p>
            <a:r>
              <a:rPr sz="2800" lang="en-US">
                <a:solidFill>
                  <a:srgbClr val="000000"/>
                </a:solidFill>
              </a:rPr>
              <a:t>4. Skills – Highlight key abilities.</a:t>
            </a:r>
            <a:endParaRPr sz="2800" lang="en-IN">
              <a:solidFill>
                <a:srgbClr val="000000"/>
              </a:solidFill>
            </a:endParaRPr>
          </a:p>
          <a:p>
            <a:r>
              <a:rPr sz="2800" lang="en-US">
                <a:solidFill>
                  <a:srgbClr val="000000"/>
                </a:solidFill>
              </a:rPr>
              <a:t>5. Contact – Easy way to connect.</a:t>
            </a:r>
            <a:endParaRPr sz="2800" lang="en-IN">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72" name="Title 1"/>
          <p:cNvSpPr>
            <a:spLocks noGrp="1"/>
          </p:cNvSpPr>
          <p:nvPr>
            <p:ph type="title"/>
          </p:nvPr>
        </p:nvSpPr>
        <p:spPr>
          <a:xfrm>
            <a:off x="755332" y="385444"/>
            <a:ext cx="10681335" cy="596900"/>
          </a:xfrm>
        </p:spPr>
        <p:txBody>
          <a:bodyPr/>
          <a:p>
            <a:r>
              <a:rPr dirty="0" lang="en-IN"/>
              <a:t>FEATURES AND FUNCTIONALITY</a:t>
            </a:r>
          </a:p>
        </p:txBody>
      </p:sp>
      <p:sp>
        <p:nvSpPr>
          <p:cNvPr id="1048673" name="Rectangle 2"/>
          <p:cNvSpPr/>
          <p:nvPr/>
        </p:nvSpPr>
        <p:spPr>
          <a:xfrm>
            <a:off x="3048000" y="1859340"/>
            <a:ext cx="6096000" cy="2745740"/>
          </a:xfrm>
          <a:prstGeom prst="rect"/>
        </p:spPr>
        <p:txBody>
          <a:bodyPr>
            <a:spAutoFit/>
          </a:bodyPr>
          <a:p>
            <a:pPr lvl="0"/>
            <a:r>
              <a:rPr b="1" dirty="0" lang="en-US">
                <a:solidFill>
                  <a:prstClr val="black"/>
                </a:solidFill>
              </a:rPr>
              <a:t>Features</a:t>
            </a:r>
          </a:p>
          <a:p>
            <a:pPr lvl="0">
              <a:buFont typeface="Arial" panose="020B0604020202020204" pitchFamily="34" charset="0"/>
              <a:buChar char="•"/>
            </a:pPr>
            <a:r>
              <a:rPr b="1" dirty="0" sz="1200" lang="en-US">
                <a:solidFill>
                  <a:prstClr val="black"/>
                </a:solidFill>
                <a:latin typeface="Times New Roman" panose="02020603050405020304" pitchFamily="18" charset="0"/>
                <a:cs typeface="Times New Roman" panose="02020603050405020304" pitchFamily="18" charset="0"/>
              </a:rPr>
              <a:t>Personalized Profile</a:t>
            </a:r>
            <a:r>
              <a:rPr dirty="0" sz="1200" lang="en-US">
                <a:solidFill>
                  <a:prstClr val="black"/>
                </a:solidFill>
                <a:latin typeface="Times New Roman" panose="02020603050405020304" pitchFamily="18" charset="0"/>
                <a:cs typeface="Times New Roman" panose="02020603050405020304" pitchFamily="18" charset="0"/>
              </a:rPr>
              <a:t> – includes name, photo, introduction, and career objective.</a:t>
            </a:r>
          </a:p>
          <a:p>
            <a:pPr lvl="0">
              <a:buFont typeface="Arial" panose="020B0604020202020204" pitchFamily="34" charset="0"/>
              <a:buChar char="•"/>
            </a:pPr>
            <a:r>
              <a:rPr b="1" dirty="0" sz="1200" lang="en-US">
                <a:solidFill>
                  <a:prstClr val="black"/>
                </a:solidFill>
                <a:latin typeface="Times New Roman" panose="02020603050405020304" pitchFamily="18" charset="0"/>
                <a:cs typeface="Times New Roman" panose="02020603050405020304" pitchFamily="18" charset="0"/>
              </a:rPr>
              <a:t>Project Showcase</a:t>
            </a:r>
            <a:r>
              <a:rPr dirty="0" sz="1200" lang="en-US">
                <a:solidFill>
                  <a:prstClr val="black"/>
                </a:solidFill>
                <a:latin typeface="Times New Roman" panose="02020603050405020304" pitchFamily="18" charset="0"/>
                <a:cs typeface="Times New Roman" panose="02020603050405020304" pitchFamily="18" charset="0"/>
              </a:rPr>
              <a:t> – ability to upload and display projects with descriptions, images, or links.</a:t>
            </a:r>
          </a:p>
          <a:p>
            <a:pPr lvl="0">
              <a:buFont typeface="Arial" panose="020B0604020202020204" pitchFamily="34" charset="0"/>
              <a:buChar char="•"/>
            </a:pPr>
            <a:r>
              <a:rPr b="1" dirty="0" sz="1200" lang="en-US">
                <a:solidFill>
                  <a:prstClr val="black"/>
                </a:solidFill>
                <a:latin typeface="Times New Roman" panose="02020603050405020304" pitchFamily="18" charset="0"/>
                <a:cs typeface="Times New Roman" panose="02020603050405020304" pitchFamily="18" charset="0"/>
              </a:rPr>
              <a:t>Skills Display</a:t>
            </a:r>
            <a:r>
              <a:rPr dirty="0" sz="1200" lang="en-US">
                <a:solidFill>
                  <a:prstClr val="black"/>
                </a:solidFill>
                <a:latin typeface="Times New Roman" panose="02020603050405020304" pitchFamily="18" charset="0"/>
                <a:cs typeface="Times New Roman" panose="02020603050405020304" pitchFamily="18" charset="0"/>
              </a:rPr>
              <a:t> – lists or graphical bars showing technical and soft skills.</a:t>
            </a:r>
          </a:p>
          <a:p>
            <a:pPr lvl="0">
              <a:buFont typeface="Arial" panose="020B0604020202020204" pitchFamily="34" charset="0"/>
              <a:buChar char="•"/>
            </a:pPr>
            <a:r>
              <a:rPr b="1" dirty="0" sz="1200" lang="en-US">
                <a:solidFill>
                  <a:prstClr val="black"/>
                </a:solidFill>
                <a:latin typeface="Times New Roman" panose="02020603050405020304" pitchFamily="18" charset="0"/>
                <a:cs typeface="Times New Roman" panose="02020603050405020304" pitchFamily="18" charset="0"/>
              </a:rPr>
              <a:t>Education &amp; Experience Section</a:t>
            </a:r>
            <a:r>
              <a:rPr dirty="0" sz="1200" lang="en-US">
                <a:solidFill>
                  <a:prstClr val="black"/>
                </a:solidFill>
                <a:latin typeface="Times New Roman" panose="02020603050405020304" pitchFamily="18" charset="0"/>
                <a:cs typeface="Times New Roman" panose="02020603050405020304" pitchFamily="18" charset="0"/>
              </a:rPr>
              <a:t> – academic details, certifications, and work history.</a:t>
            </a:r>
          </a:p>
          <a:p>
            <a:pPr lvl="0">
              <a:buFont typeface="Arial" panose="020B0604020202020204" pitchFamily="34" charset="0"/>
              <a:buChar char="•"/>
            </a:pPr>
            <a:r>
              <a:rPr b="1" dirty="0" sz="1200" lang="en-US">
                <a:solidFill>
                  <a:prstClr val="black"/>
                </a:solidFill>
                <a:latin typeface="Times New Roman" panose="02020603050405020304" pitchFamily="18" charset="0"/>
                <a:cs typeface="Times New Roman" panose="02020603050405020304" pitchFamily="18" charset="0"/>
              </a:rPr>
              <a:t>Multimedia Support</a:t>
            </a:r>
            <a:r>
              <a:rPr dirty="0" sz="1200" lang="en-US">
                <a:solidFill>
                  <a:prstClr val="black"/>
                </a:solidFill>
                <a:latin typeface="Times New Roman" panose="02020603050405020304" pitchFamily="18" charset="0"/>
                <a:cs typeface="Times New Roman" panose="02020603050405020304" pitchFamily="18" charset="0"/>
              </a:rPr>
              <a:t> – images, videos, presentations, or demos.</a:t>
            </a:r>
          </a:p>
          <a:p>
            <a:pPr lvl="0">
              <a:buFont typeface="Arial" panose="020B0604020202020204" pitchFamily="34" charset="0"/>
              <a:buChar char="•"/>
            </a:pPr>
            <a:r>
              <a:rPr b="1" dirty="0" sz="1200" lang="en-US">
                <a:solidFill>
                  <a:prstClr val="black"/>
                </a:solidFill>
                <a:latin typeface="Times New Roman" panose="02020603050405020304" pitchFamily="18" charset="0"/>
                <a:cs typeface="Times New Roman" panose="02020603050405020304" pitchFamily="18" charset="0"/>
              </a:rPr>
              <a:t>Responsive Design</a:t>
            </a:r>
            <a:r>
              <a:rPr dirty="0" sz="1200" lang="en-US">
                <a:solidFill>
                  <a:prstClr val="black"/>
                </a:solidFill>
                <a:latin typeface="Times New Roman" panose="02020603050405020304" pitchFamily="18" charset="0"/>
                <a:cs typeface="Times New Roman" panose="02020603050405020304" pitchFamily="18" charset="0"/>
              </a:rPr>
              <a:t> – accessible on mobile, tablet, and desktop.</a:t>
            </a:r>
          </a:p>
          <a:p>
            <a:pPr lvl="0">
              <a:buFont typeface="Arial" panose="020B0604020202020204" pitchFamily="34" charset="0"/>
              <a:buChar char="•"/>
            </a:pPr>
            <a:r>
              <a:rPr b="1" dirty="0" sz="1200" lang="en-US">
                <a:solidFill>
                  <a:prstClr val="black"/>
                </a:solidFill>
                <a:latin typeface="Times New Roman" panose="02020603050405020304" pitchFamily="18" charset="0"/>
                <a:cs typeface="Times New Roman" panose="02020603050405020304" pitchFamily="18" charset="0"/>
              </a:rPr>
              <a:t>Search &amp; Navigation</a:t>
            </a:r>
            <a:r>
              <a:rPr dirty="0" sz="1200" lang="en-US">
                <a:solidFill>
                  <a:prstClr val="black"/>
                </a:solidFill>
                <a:latin typeface="Times New Roman" panose="02020603050405020304" pitchFamily="18" charset="0"/>
                <a:cs typeface="Times New Roman" panose="02020603050405020304" pitchFamily="18" charset="0"/>
              </a:rPr>
              <a:t> – simple menus for easy access to different sections.</a:t>
            </a:r>
          </a:p>
          <a:p>
            <a:pPr lvl="0"/>
            <a:r>
              <a:rPr b="1" dirty="0" sz="1200" lang="en-US">
                <a:solidFill>
                  <a:prstClr val="black"/>
                </a:solidFill>
                <a:latin typeface="Times New Roman" panose="02020603050405020304" pitchFamily="18" charset="0"/>
                <a:cs typeface="Times New Roman" panose="02020603050405020304" pitchFamily="18" charset="0"/>
              </a:rPr>
              <a:t>Functionality</a:t>
            </a:r>
          </a:p>
          <a:p>
            <a:pPr lvl="0">
              <a:buFont typeface="Arial" panose="020B0604020202020204" pitchFamily="34" charset="0"/>
              <a:buChar char="•"/>
            </a:pPr>
            <a:r>
              <a:rPr b="1" dirty="0" sz="1200" lang="en-US">
                <a:solidFill>
                  <a:prstClr val="black"/>
                </a:solidFill>
                <a:latin typeface="Times New Roman" panose="02020603050405020304" pitchFamily="18" charset="0"/>
                <a:cs typeface="Times New Roman" panose="02020603050405020304" pitchFamily="18" charset="0"/>
              </a:rPr>
              <a:t>Add / Edit / Update Content</a:t>
            </a:r>
            <a:r>
              <a:rPr dirty="0" sz="1200" lang="en-US">
                <a:solidFill>
                  <a:prstClr val="black"/>
                </a:solidFill>
                <a:latin typeface="Times New Roman" panose="02020603050405020304" pitchFamily="18" charset="0"/>
                <a:cs typeface="Times New Roman" panose="02020603050405020304" pitchFamily="18" charset="0"/>
              </a:rPr>
              <a:t> – users can manage their information anytime.</a:t>
            </a:r>
          </a:p>
          <a:p>
            <a:pPr lvl="0">
              <a:buFont typeface="Arial" panose="020B0604020202020204" pitchFamily="34" charset="0"/>
              <a:buChar char="•"/>
            </a:pPr>
            <a:r>
              <a:rPr b="1" dirty="0" sz="1200" lang="en-US">
                <a:solidFill>
                  <a:prstClr val="black"/>
                </a:solidFill>
                <a:latin typeface="Times New Roman" panose="02020603050405020304" pitchFamily="18" charset="0"/>
                <a:cs typeface="Times New Roman" panose="02020603050405020304" pitchFamily="18" charset="0"/>
              </a:rPr>
              <a:t>Interactive Elements</a:t>
            </a:r>
            <a:r>
              <a:rPr dirty="0" sz="1200" lang="en-US">
                <a:solidFill>
                  <a:prstClr val="black"/>
                </a:solidFill>
                <a:latin typeface="Times New Roman" panose="02020603050405020304" pitchFamily="18" charset="0"/>
                <a:cs typeface="Times New Roman" panose="02020603050405020304" pitchFamily="18" charset="0"/>
              </a:rPr>
              <a:t> – clickable links, animations, and hover effects.</a:t>
            </a:r>
          </a:p>
          <a:p>
            <a:pPr lvl="0">
              <a:buFont typeface="Arial" panose="020B0604020202020204" pitchFamily="34" charset="0"/>
              <a:buChar char="•"/>
            </a:pPr>
            <a:r>
              <a:rPr b="1" dirty="0" sz="1200" lang="en-US">
                <a:solidFill>
                  <a:prstClr val="black"/>
                </a:solidFill>
                <a:latin typeface="Times New Roman" panose="02020603050405020304" pitchFamily="18" charset="0"/>
                <a:cs typeface="Times New Roman" panose="02020603050405020304" pitchFamily="18" charset="0"/>
              </a:rPr>
              <a:t>Contact Integration</a:t>
            </a:r>
            <a:r>
              <a:rPr dirty="0" sz="1200" lang="en-US">
                <a:solidFill>
                  <a:prstClr val="black"/>
                </a:solidFill>
                <a:latin typeface="Times New Roman" panose="02020603050405020304" pitchFamily="18" charset="0"/>
                <a:cs typeface="Times New Roman" panose="02020603050405020304" pitchFamily="18" charset="0"/>
              </a:rPr>
              <a:t> – email, social media links, or a contact form.</a:t>
            </a:r>
          </a:p>
          <a:p>
            <a:pPr lvl="0">
              <a:buFont typeface="Arial" panose="020B0604020202020204" pitchFamily="34" charset="0"/>
              <a:buChar char="•"/>
            </a:pPr>
            <a:r>
              <a:rPr b="1" dirty="0" sz="1200" lang="en-US">
                <a:solidFill>
                  <a:prstClr val="black"/>
                </a:solidFill>
                <a:latin typeface="Times New Roman" panose="02020603050405020304" pitchFamily="18" charset="0"/>
                <a:cs typeface="Times New Roman" panose="02020603050405020304" pitchFamily="18" charset="0"/>
              </a:rPr>
              <a:t>Downloadable Resume</a:t>
            </a:r>
            <a:r>
              <a:rPr dirty="0" sz="1200" lang="en-US">
                <a:solidFill>
                  <a:prstClr val="black"/>
                </a:solidFill>
                <a:latin typeface="Times New Roman" panose="02020603050405020304" pitchFamily="18" charset="0"/>
                <a:cs typeface="Times New Roman" panose="02020603050405020304" pitchFamily="18" charset="0"/>
              </a:rPr>
              <a:t> – option to attach or download CV.</a:t>
            </a:r>
          </a:p>
          <a:p>
            <a:pPr lvl="0">
              <a:buFont typeface="Arial" panose="020B0604020202020204" pitchFamily="34" charset="0"/>
              <a:buChar char="•"/>
            </a:pPr>
            <a:r>
              <a:rPr b="1" dirty="0" sz="1200" lang="en-US">
                <a:solidFill>
                  <a:prstClr val="black"/>
                </a:solidFill>
                <a:latin typeface="Times New Roman" panose="02020603050405020304" pitchFamily="18" charset="0"/>
                <a:cs typeface="Times New Roman" panose="02020603050405020304" pitchFamily="18" charset="0"/>
              </a:rPr>
              <a:t>Sharing Options</a:t>
            </a:r>
            <a:r>
              <a:rPr dirty="0" sz="1200" lang="en-US">
                <a:solidFill>
                  <a:prstClr val="black"/>
                </a:solidFill>
                <a:latin typeface="Times New Roman" panose="02020603050405020304" pitchFamily="18" charset="0"/>
                <a:cs typeface="Times New Roman" panose="02020603050405020304" pitchFamily="18" charset="0"/>
              </a:rPr>
              <a:t> – portfolio link shareable on LinkedIn, job portals, etc.</a:t>
            </a:r>
          </a:p>
          <a:p>
            <a:pPr lvl="0">
              <a:buFont typeface="Arial" panose="020B0604020202020204" pitchFamily="34" charset="0"/>
              <a:buChar char="•"/>
            </a:pPr>
            <a:r>
              <a:rPr b="1" dirty="0" sz="1200" lang="en-US">
                <a:solidFill>
                  <a:prstClr val="black"/>
                </a:solidFill>
                <a:latin typeface="Times New Roman" panose="02020603050405020304" pitchFamily="18" charset="0"/>
                <a:cs typeface="Times New Roman" panose="02020603050405020304" pitchFamily="18" charset="0"/>
              </a:rPr>
              <a:t>SEO Optimization</a:t>
            </a:r>
            <a:r>
              <a:rPr dirty="0" sz="1200" lang="en-US">
                <a:solidFill>
                  <a:prstClr val="black"/>
                </a:solidFill>
                <a:latin typeface="Times New Roman" panose="02020603050405020304" pitchFamily="18" charset="0"/>
                <a:cs typeface="Times New Roman" panose="02020603050405020304" pitchFamily="18" charset="0"/>
              </a:rPr>
              <a:t> – improves visibility in search engines.</a:t>
            </a:r>
          </a:p>
          <a:p>
            <a:pPr lvl="0">
              <a:buFont typeface="Arial" panose="020B0604020202020204" pitchFamily="34" charset="0"/>
              <a:buChar char="•"/>
            </a:pPr>
            <a:r>
              <a:rPr b="1" dirty="0" sz="1200" lang="en-US">
                <a:solidFill>
                  <a:prstClr val="black"/>
                </a:solidFill>
                <a:latin typeface="Times New Roman" panose="02020603050405020304" pitchFamily="18" charset="0"/>
                <a:cs typeface="Times New Roman" panose="02020603050405020304" pitchFamily="18" charset="0"/>
              </a:rPr>
              <a:t>Data Security</a:t>
            </a:r>
            <a:r>
              <a:rPr dirty="0" sz="1200" lang="en-US">
                <a:solidFill>
                  <a:prstClr val="black"/>
                </a:solidFill>
                <a:latin typeface="Times New Roman" panose="02020603050405020304" pitchFamily="18" charset="0"/>
                <a:cs typeface="Times New Roman" panose="02020603050405020304" pitchFamily="18" charset="0"/>
              </a:rPr>
              <a:t> – safe handling of personal details.</a:t>
            </a:r>
            <a:endParaRPr dirty="0" sz="1200" lang="en-US">
              <a:solidFill>
                <a:prstClr val="black"/>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74" name="object 2"/>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a:cs typeface="Trebuchet MS"/>
              </a:rPr>
              <a:t>3/21/202</a:t>
            </a:r>
            <a:r>
              <a:rPr dirty="0" sz="1100" spc="10">
                <a:solidFill>
                  <a:srgbClr val="2D83C3"/>
                </a:solidFill>
                <a:latin typeface="Trebuchet MS"/>
                <a:cs typeface="Trebuchet MS"/>
              </a:rPr>
              <a:t>4</a:t>
            </a:r>
            <a:r>
              <a:rPr dirty="0" sz="1100">
                <a:solidFill>
                  <a:srgbClr val="2D83C3"/>
                </a:solidFill>
                <a:latin typeface="Trebuchet MS"/>
                <a:cs typeface="Trebuchet MS"/>
              </a:rPr>
              <a:t> </a:t>
            </a:r>
            <a:r>
              <a:rPr dirty="0" sz="1100" spc="130">
                <a:solidFill>
                  <a:srgbClr val="2D83C3"/>
                </a:solidFill>
                <a:latin typeface="Trebuchet MS"/>
                <a:cs typeface="Trebuchet MS"/>
              </a:rPr>
              <a:t> </a:t>
            </a:r>
            <a:r>
              <a:rPr b="1" dirty="0" sz="1100" spc="50">
                <a:solidFill>
                  <a:srgbClr val="2D83C3"/>
                </a:solidFill>
                <a:latin typeface="Trebuchet MS"/>
                <a:cs typeface="Trebuchet MS"/>
              </a:rPr>
              <a:t>A</a:t>
            </a:r>
            <a:r>
              <a:rPr b="1" dirty="0" sz="1100" spc="15">
                <a:solidFill>
                  <a:srgbClr val="2D83C3"/>
                </a:solidFill>
                <a:latin typeface="Trebuchet MS"/>
                <a:cs typeface="Trebuchet MS"/>
              </a:rPr>
              <a:t>nnu</a:t>
            </a:r>
            <a:r>
              <a:rPr b="1" dirty="0" sz="1100" spc="10">
                <a:solidFill>
                  <a:srgbClr val="2D83C3"/>
                </a:solidFill>
                <a:latin typeface="Trebuchet MS"/>
                <a:cs typeface="Trebuchet MS"/>
              </a:rPr>
              <a:t>al</a:t>
            </a:r>
            <a:r>
              <a:rPr b="1" dirty="0" sz="1100" spc="-140">
                <a:solidFill>
                  <a:srgbClr val="2D83C3"/>
                </a:solidFill>
                <a:latin typeface="Trebuchet MS"/>
                <a:cs typeface="Trebuchet MS"/>
              </a:rPr>
              <a:t> </a:t>
            </a:r>
            <a:r>
              <a:rPr b="1" dirty="0" sz="1100">
                <a:solidFill>
                  <a:srgbClr val="2D83C3"/>
                </a:solidFill>
                <a:latin typeface="Trebuchet MS"/>
                <a:cs typeface="Trebuchet MS"/>
              </a:rPr>
              <a:t>R</a:t>
            </a:r>
            <a:r>
              <a:rPr b="1" dirty="0" sz="1100" spc="35">
                <a:solidFill>
                  <a:srgbClr val="2D83C3"/>
                </a:solidFill>
                <a:latin typeface="Trebuchet MS"/>
                <a:cs typeface="Trebuchet MS"/>
              </a:rPr>
              <a:t>e</a:t>
            </a:r>
            <a:r>
              <a:rPr b="1" dirty="0" sz="1100" spc="90">
                <a:solidFill>
                  <a:srgbClr val="2D83C3"/>
                </a:solidFill>
                <a:latin typeface="Trebuchet MS"/>
                <a:cs typeface="Trebuchet MS"/>
              </a:rPr>
              <a:t>v</a:t>
            </a:r>
            <a:r>
              <a:rPr b="1" dirty="0" sz="1100" spc="-35">
                <a:solidFill>
                  <a:srgbClr val="2D83C3"/>
                </a:solidFill>
                <a:latin typeface="Trebuchet MS"/>
                <a:cs typeface="Trebuchet MS"/>
              </a:rPr>
              <a:t>i</a:t>
            </a:r>
            <a:r>
              <a:rPr b="1" dirty="0" sz="1100" spc="35">
                <a:solidFill>
                  <a:srgbClr val="2D83C3"/>
                </a:solidFill>
                <a:latin typeface="Trebuchet MS"/>
                <a:cs typeface="Trebuchet MS"/>
              </a:rPr>
              <a:t>e</a:t>
            </a:r>
            <a:r>
              <a:rPr b="1" dirty="0" sz="1100" spc="15">
                <a:solidFill>
                  <a:srgbClr val="2D83C3"/>
                </a:solidFill>
                <a:latin typeface="Trebuchet MS"/>
                <a:cs typeface="Trebuchet MS"/>
              </a:rPr>
              <a:t>w</a:t>
            </a:r>
            <a:endParaRPr sz="1100">
              <a:latin typeface="Trebuchet MS"/>
              <a:cs typeface="Trebuchet MS"/>
            </a:endParaRPr>
          </a:p>
        </p:txBody>
      </p:sp>
      <p:sp>
        <p:nvSpPr>
          <p:cNvPr id="1048675"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76"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77"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6" name="object 6"/>
          <p:cNvPicPr>
            <a:picLocks/>
          </p:cNvPicPr>
          <p:nvPr/>
        </p:nvPicPr>
        <p:blipFill>
          <a:blip xmlns:r="http://schemas.openxmlformats.org/officeDocument/2006/relationships" r:embed="rId1" cstate="print"/>
          <a:stretch>
            <a:fillRect/>
          </a:stretch>
        </p:blipFill>
        <p:spPr>
          <a:xfrm>
            <a:off x="66675" y="3381373"/>
            <a:ext cx="2466975" cy="3419475"/>
          </a:xfrm>
          <a:prstGeom prst="rect"/>
        </p:spPr>
      </p:pic>
      <p:sp>
        <p:nvSpPr>
          <p:cNvPr id="1048678" name="object 7"/>
          <p:cNvSpPr txBox="1">
            <a:spLocks noGrp="1"/>
          </p:cNvSpPr>
          <p:nvPr>
            <p:ph type="title"/>
          </p:nvPr>
        </p:nvSpPr>
        <p:spPr>
          <a:xfrm>
            <a:off x="739775" y="654938"/>
            <a:ext cx="8480425" cy="549910"/>
          </a:xfrm>
          <a:prstGeom prst="rect"/>
        </p:spPr>
        <p:txBody>
          <a:bodyPr bIns="0" lIns="0" rIns="0" rtlCol="0" tIns="16510" vert="horz" wrap="square">
            <a:spAutoFit/>
          </a:bodyPr>
          <a:p>
            <a:pPr marL="12700">
              <a:lnSpc>
                <a:spcPct val="100000"/>
              </a:lnSpc>
              <a:spcBef>
                <a:spcPts val="130"/>
              </a:spcBef>
            </a:pPr>
            <a:r>
              <a:rPr dirty="0" sz="4250" lang="en-IN" spc="15"/>
              <a:t>RESULTS AND SCREENSHOTS</a:t>
            </a:r>
            <a:endParaRPr dirty="0" sz="4250"/>
          </a:p>
        </p:txBody>
      </p:sp>
      <p:sp>
        <p:nvSpPr>
          <p:cNvPr id="1048679" name="object 8"/>
          <p:cNvSpPr txBox="1"/>
          <p:nvPr/>
        </p:nvSpPr>
        <p:spPr>
          <a:xfrm>
            <a:off x="11277218" y="6473337"/>
            <a:ext cx="228600"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10</a:t>
            </a:fld>
            <a:endParaRPr sz="1100">
              <a:latin typeface="Trebuchet MS"/>
              <a:cs typeface="Trebuchet MS"/>
            </a:endParaRPr>
          </a:p>
        </p:txBody>
      </p:sp>
      <p:sp>
        <p:nvSpPr>
          <p:cNvPr id="1048680" name="TextBox 8"/>
          <p:cNvSpPr txBox="1"/>
          <p:nvPr/>
        </p:nvSpPr>
        <p:spPr>
          <a:xfrm>
            <a:off x="2743200" y="2354703"/>
            <a:ext cx="8534018" cy="1170940"/>
          </a:xfrm>
          <a:prstGeom prst="rect"/>
          <a:noFill/>
        </p:spPr>
        <p:txBody>
          <a:bodyPr rtlCol="0" wrap="square">
            <a:spAutoFit/>
          </a:bodyPr>
          <a:p>
            <a:r>
              <a:rPr b="1" dirty="0" lang="en-US" smtClean="0">
                <a:latin typeface="Times New Roman" panose="02020603050405020304" pitchFamily="18" charset="0"/>
                <a:cs typeface="Times New Roman" panose="02020603050405020304" pitchFamily="18" charset="0"/>
              </a:rPr>
              <a:t>Result:</a:t>
            </a:r>
            <a:r>
              <a:rPr dirty="0" lang="en-US">
                <a:latin typeface="Times New Roman" panose="02020603050405020304" pitchFamily="18" charset="0"/>
                <a:cs typeface="Times New Roman" panose="02020603050405020304" pitchFamily="18" charset="0"/>
              </a:rPr>
              <a:t/>
            </a:r>
            <a:br>
              <a:rPr dirty="0" lang="en-US">
                <a:latin typeface="Times New Roman" panose="02020603050405020304" pitchFamily="18" charset="0"/>
                <a:cs typeface="Times New Roman" panose="02020603050405020304" pitchFamily="18" charset="0"/>
              </a:rPr>
            </a:br>
            <a:r>
              <a:rPr dirty="0" lang="en-US">
                <a:latin typeface="Times New Roman" panose="02020603050405020304" pitchFamily="18" charset="0"/>
                <a:cs typeface="Times New Roman" panose="02020603050405020304" pitchFamily="18" charset="0"/>
              </a:rPr>
              <a:t>“The digital portfolio was successfully designed and implemented. It allows users to showcase their skills, projects, and achievements in an organized and visually appealing way. The portfolio is fully responsive, easy to update, and accessible across devices.”</a:t>
            </a:r>
            <a:endParaRPr dirty="0" lang="en-IN">
              <a:latin typeface="Times New Roman" panose="02020603050405020304" pitchFamily="18" charset="0"/>
              <a:cs typeface="Times New Roman" panose="02020603050405020304" pitchFamily="18" charset="0"/>
            </a:endParaRPr>
          </a:p>
        </p:txBody>
      </p:sp>
      <p:pic>
        <p:nvPicPr>
          <p:cNvPr id="2097169" name=""/>
          <p:cNvPicPr>
            <a:picLocks/>
          </p:cNvPicPr>
          <p:nvPr/>
        </p:nvPicPr>
        <p:blipFill>
          <a:blip xmlns:r="http://schemas.openxmlformats.org/officeDocument/2006/relationships" r:embed="rId2"/>
          <a:stretch>
            <a:fillRect/>
          </a:stretch>
        </p:blipFill>
        <p:spPr>
          <a:xfrm rot="0">
            <a:off x="3857882" y="3948121"/>
            <a:ext cx="7565143" cy="2021343"/>
          </a:xfrm>
          <a:prstGeom prst="rec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81"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82"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83"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8"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684" name="object 7"/>
          <p:cNvSpPr txBox="1">
            <a:spLocks noGrp="1"/>
          </p:cNvSpPr>
          <p:nvPr>
            <p:ph type="title"/>
          </p:nvPr>
        </p:nvSpPr>
        <p:spPr>
          <a:xfrm>
            <a:off x="755332" y="385444"/>
            <a:ext cx="4578668" cy="610236"/>
          </a:xfrm>
          <a:prstGeom prst="rect"/>
        </p:spPr>
        <p:txBody>
          <a:bodyPr bIns="0" lIns="0" rIns="0" rtlCol="0" tIns="13335" vert="horz" wrap="square">
            <a:spAutoFit/>
          </a:bodyPr>
          <a:p>
            <a:pPr marL="12700">
              <a:lnSpc>
                <a:spcPct val="100000"/>
              </a:lnSpc>
              <a:spcBef>
                <a:spcPts val="105"/>
              </a:spcBef>
            </a:pPr>
            <a:r>
              <a:rPr dirty="0" lang="en-IN"/>
              <a:t>CONCLUSION</a:t>
            </a:r>
            <a:endParaRPr dirty="0"/>
          </a:p>
        </p:txBody>
      </p:sp>
      <p:sp>
        <p:nvSpPr>
          <p:cNvPr id="1048685" name="object 9"/>
          <p:cNvSpPr txBox="1"/>
          <p:nvPr/>
        </p:nvSpPr>
        <p:spPr>
          <a:xfrm>
            <a:off x="11277218" y="6473337"/>
            <a:ext cx="228600" cy="146685"/>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11</a:t>
            </a:fld>
            <a:endParaRPr sz="1100">
              <a:latin typeface="Trebuchet MS"/>
              <a:cs typeface="Trebuchet MS"/>
            </a:endParaRPr>
          </a:p>
        </p:txBody>
      </p:sp>
      <p:sp>
        <p:nvSpPr>
          <p:cNvPr id="1048686" name="Rectangle 1"/>
          <p:cNvSpPr/>
          <p:nvPr/>
        </p:nvSpPr>
        <p:spPr>
          <a:xfrm>
            <a:off x="3048000" y="1997839"/>
            <a:ext cx="6096000" cy="2466340"/>
          </a:xfrm>
          <a:prstGeom prst="rect"/>
        </p:spPr>
        <p:txBody>
          <a:bodyPr>
            <a:spAutoFit/>
          </a:bodyPr>
          <a:p>
            <a:r>
              <a:rPr b="1" dirty="0" lang="en-US"/>
              <a:t>Conclusion</a:t>
            </a:r>
          </a:p>
          <a:p>
            <a:r>
              <a:rPr dirty="0" lang="en-US"/>
              <a:t>The Digital Portfolio serves as a modern and interactive platform for individuals to showcase their personal, academic, and professional achievements. Unlike traditional resumes, it provides a dynamic space to highlight skills, projects, and experiences using multimedia elements. It enhances personal branding, improves accessibility, and creates better opportunities for career growth. Overall, the digital portfolio is an effective tool that bridges the gap between an individual’s potential and the opportunities available in the digital world.</a:t>
            </a: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15.0000</AppVersion>
</Properties>
</file>

<file path=docProps/core.xml><?xml version="1.0" encoding="utf-8"?>
<cp:coreProperties xmlns:cp="http://schemas.openxmlformats.org/package/2006/metadata/core-properties" xmlns:dc="http://purl.org/dc/elements/1.1/" xmlns:dcterms="http://purl.org/dc/terms/" xmlns:xsi="http://www.w3.org/2001/XMLSchema-instance">
  <dc:title>Face Mask Detection using Convolutional Neural Network (CNN)</dc:title>
  <dc:creator>Konduru Narasimha</dc:creator>
  <cp:lastModifiedBy>Admin</cp:lastModifiedBy>
  <dcterms:created xsi:type="dcterms:W3CDTF">2024-03-28T17:07:22Z</dcterms:created>
  <dcterms:modified xsi:type="dcterms:W3CDTF">2025-09-10T08:47:44Z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y fmtid="{D5CDD505-2E9C-101B-9397-08002B2CF9AE}" pid="4" name="ICV">
    <vt:lpwstr>f39b59aba9384a53aa17668a870d005f</vt:lpwstr>
  </property>
</Properties>
</file>